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11.svg" ContentType="image/svg+xml"/>
  <Override PartName="/ppt/media/image13.svg" ContentType="image/svg+xml"/>
  <Override PartName="/ppt/media/image15.svg" ContentType="image/svg+xml"/>
  <Override PartName="/ppt/media/image18.svg" ContentType="image/svg+xml"/>
  <Override PartName="/ppt/media/image20.svg" ContentType="image/svg+xml"/>
  <Override PartName="/ppt/media/image22.svg" ContentType="image/svg+xml"/>
  <Override PartName="/ppt/media/image26.svg" ContentType="image/svg+xml"/>
  <Override PartName="/ppt/media/image28.svg" ContentType="image/svg+xml"/>
  <Override PartName="/ppt/media/image30.svg" ContentType="image/svg+xml"/>
  <Override PartName="/ppt/media/image32.svg" ContentType="image/svg+xml"/>
  <Override PartName="/ppt/media/image34.svg" ContentType="image/svg+xml"/>
  <Override PartName="/ppt/media/image36.svg" ContentType="image/svg+xml"/>
  <Override PartName="/ppt/media/image38.svg" ContentType="image/svg+xml"/>
  <Override PartName="/ppt/media/image41.svg" ContentType="image/svg+xml"/>
  <Override PartName="/ppt/media/image44.svg" ContentType="image/svg+xml"/>
  <Override PartName="/ppt/media/image47.svg" ContentType="image/svg+xml"/>
  <Override PartName="/ppt/media/image49.svg" ContentType="image/svg+xml"/>
  <Override PartName="/ppt/media/image5.svg" ContentType="image/svg+xml"/>
  <Override PartName="/ppt/media/image51.svg" ContentType="image/svg+xml"/>
  <Override PartName="/ppt/media/image53.svg" ContentType="image/svg+xml"/>
  <Override PartName="/ppt/media/image56.svg" ContentType="image/svg+xml"/>
  <Override PartName="/ppt/media/image58.svg" ContentType="image/svg+xml"/>
  <Override PartName="/ppt/media/image61.svg" ContentType="image/svg+xml"/>
  <Override PartName="/ppt/media/image63.svg" ContentType="image/svg+xml"/>
  <Override PartName="/ppt/media/image65.svg" ContentType="image/svg+xml"/>
  <Override PartName="/ppt/media/image67.svg" ContentType="image/svg+xml"/>
  <Override PartName="/ppt/media/image69.svg" ContentType="image/svg+xml"/>
  <Override PartName="/ppt/media/image7.svg" ContentType="image/svg+xml"/>
  <Override PartName="/ppt/media/image71.svg" ContentType="image/svg+xml"/>
  <Override PartName="/ppt/media/image73.svg" ContentType="image/svg+xml"/>
  <Override PartName="/ppt/media/image75.svg" ContentType="image/svg+xml"/>
  <Override PartName="/ppt/media/image77.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autoCompressPictures="0">
  <p:sldMasterIdLst>
    <p:sldMasterId id="2147483648" r:id="rId1"/>
    <p:sldMasterId id="2147483660" r:id="rId3"/>
  </p:sldMasterIdLst>
  <p:notesMasterIdLst>
    <p:notesMasterId r:id="rId5"/>
  </p:notesMasterIdLst>
  <p:sldIdLst>
    <p:sldId id="256" r:id="rId4"/>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9144000"/>
  <p:defaultTextStyle>
    <a:defPPr marR="0" lvl="0" algn="l" rtl="0">
      <a:lnSpc>
        <a:spcPct val="100000"/>
      </a:lnSpc>
      <a:spcBef>
        <a:spcPts val="0"/>
      </a:spcBef>
      <a:spcAft>
        <a:spcPts val="0"/>
      </a:spcAft>
    </a:defPPr>
    <a:lvl1pPr marL="0"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L="457200"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L="914400"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L="1371600"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L="1828800"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L="2286000"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L="2743200"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L="3200400"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L="3657600"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defaultTextStyle>
  <p:extLst>
    <p:ext uri="{EFAFB233-063F-42B5-8137-9DF3F51BA10A}">
      <p15:sldGuideLst xmlns:p15="http://schemas.microsoft.com/office/powerpoint/2012/main">
        <p15:guide id="1" orient="horz" pos="1620" userDrawn="1">
          <p15:clr>
            <a:srgbClr val="747775"/>
          </p15:clr>
        </p15:guide>
        <p15:guide id="2" pos="2880" userDrawn="1">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showComments="0">
  <p:normalViewPr>
    <p:restoredLeft sz="15620"/>
    <p:restoredTop sz="94660"/>
  </p:normalViewPr>
  <p:slideViewPr>
    <p:cSldViewPr snapToGrid="0" showGuides="1">
      <p:cViewPr varScale="1">
        <p:scale>
          <a:sx n="100" d="100"/>
          <a:sy n="100" d="100"/>
        </p:scale>
        <p:origin x="0" y="0"/>
      </p:cViewPr>
      <p:guideLst>
        <p:guide orient="horz" pos="1620"/>
        <p:guide pos="2880"/>
      </p:guideLst>
    </p:cSldViewPr>
  </p:slide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3" Type="http://schemas.openxmlformats.org/officeDocument/2006/relationships/tableStyles" Target="tableStyles.xml"/><Relationship Id="rId22" Type="http://schemas.openxmlformats.org/officeDocument/2006/relationships/viewProps" Target="viewProps.xml"/><Relationship Id="rId21" Type="http://schemas.openxmlformats.org/officeDocument/2006/relationships/presProps" Target="presProps.xml"/><Relationship Id="rId20" Type="http://schemas.openxmlformats.org/officeDocument/2006/relationships/slide" Target="slides/slide16.xml"/><Relationship Id="rId2" Type="http://schemas.openxmlformats.org/officeDocument/2006/relationships/theme" Target="theme/theme1.xml"/><Relationship Id="rId19" Type="http://schemas.openxmlformats.org/officeDocument/2006/relationships/slide" Target="slides/slide15.xml"/><Relationship Id="rId18" Type="http://schemas.openxmlformats.org/officeDocument/2006/relationships/slide" Target="slides/slide14.xml"/><Relationship Id="rId17" Type="http://schemas.openxmlformats.org/officeDocument/2006/relationships/slide" Target="slides/slide13.xml"/><Relationship Id="rId16" Type="http://schemas.openxmlformats.org/officeDocument/2006/relationships/slide" Target="slides/slide12.xml"/><Relationship Id="rId15" Type="http://schemas.openxmlformats.org/officeDocument/2006/relationships/slide" Target="slides/slide11.xml"/><Relationship Id="rId14" Type="http://schemas.openxmlformats.org/officeDocument/2006/relationships/slide" Target="slides/slide10.xml"/><Relationship Id="rId13" Type="http://schemas.openxmlformats.org/officeDocument/2006/relationships/slide" Target="slides/slide9.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a:endParaRPr lang="cs-CZ"/>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fld id="{B7268E1E-0E44-426D-905E-8AD9B19D2182}" type="datetimeFigureOut">
              <a:rPr lang="cs-CZ" smtClean="0"/>
            </a:fld>
            <a:endParaRPr lang="cs-CZ"/>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a:endParaRPr lang="cs-CZ"/>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cs-CZ"/>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a:endParaRPr lang="cs-CZ"/>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fld id="{871B2431-D351-4C6E-A3CF-9DFAC0E3E050}" type="slidenum">
              <a:rPr lang="cs-CZ" smtClean="0"/>
            </a:fld>
            <a:endParaRPr lang="cs-CZ"/>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大家好，今天我将为大家深度解析一篇在深度学习领域具有里程碑意义的论文——《Attention Is All You Need》。这篇论文提出的Transformer模型，彻底改变了我们处理序列数据的方式，开启了一个全新的范式。本次分享将带大家回顾从RNN到Transformer的演进历程，深入剖析其核心机制，并探讨其深远影响。</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本次分享将分为四个部分。首先，我们将回顾Transformer出现之前的研究背景和动机。接着，我们会深入剖析Transformer的核心架构和关键机制。然后，我们会将其与传统模型进行对比，并探讨其带来的深远影响。最后，进行总结与展望。</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在Transformer出现之前，RNN，特别是LSTM和GRU，是处理序列数据的绝对主流。它们的核心思想是像链条一样，逐个处理序列中的元素。但这种模式带来了三个根本缺陷：首先，计算无法并行，导致训练非常慢；其次，对于长句子，信息在传递过程中会丢失，也就是梯度消失问题；最后，它只能按顺序理解文本，难以捕捉远距离的语义关联。</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为了解决RNN的问题，研究者们引入了注意力机制，最初是作为RNN的辅助工具。但这引发了一个革命性的问题：如果注意力已经如此强大，我们是否还需要RNN这个循环结构？</a:t>
            </a:r>
            <a:endParaRPr lang="en-US" sz="1400" b="0" i="0" u="none" strike="noStrike">
              <a:solidFill>
                <a:srgbClr val="000000"/>
              </a:solidFill>
            </a:endParaRPr>
          </a:p>
          <a:p>
            <a:pPr indent="0" algn="l">
              <a:lnSpc>
                <a:spcPct val="100000"/>
              </a:lnSpc>
            </a:pPr>
            <a:r>
              <a:rPr lang="en-US" sz="1400" b="0" i="0" u="none" strike="noStrike">
                <a:solidFill>
                  <a:srgbClr val="000000"/>
                </a:solidFill>
              </a:rPr>
              <a:t>Transformer的作者给出了否定的答案。他们认为，处理序列的关键不在于顺序，而在于理解元素之间的关系。因此，他们完全抛弃了RNN，用自注意力机制重新定义了序列建模。这是一个从“辅助”走向“核心”的关键转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这就是Transformer的整体架构图。它遵循了经典的Encoder-Decoder框架。输入序列经过嵌入和位置编码后，送入由N层堆叠而成的编码器，提取上下文信息。然后，解码器在编码器输出的基础上，自回归地生成目标序列。整个模型的核心就是这N层堆叠的编码器和解码器。</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们来看编码器的单层结构。它主要由两部分组成：多头自注意力层和一个全连接前馈网络。自注意力层让每个词都能看到句子中所有其他词的信息，从而捕捉上下文。前馈网络则对每个位置的信息进行独立的非线性变换。特别重要的是，每个子层都使用了残差连接和层归一化，这对于训练如此深的网络至关重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解码器的结构与编码器类似，但多了一个关键的交叉注意力层。它包含三个子层：首先是掩码自注意力，确保在生成第t个词时，模型只能看到前面已经生成的t-1个词；然后是交叉注意力，它让解码器能够关注到编码器输出的源语言信息；最后同样是一个前馈网络。</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现在我们来看注意力机制的原子单元：Scaled Dot-Product Attention。这个公式是Transformer的核心。简单来说，它通过计算Query和Key的相似度，得到一个权重分布，然后用这个权重去加权求和Value。其中的缩放因子非常关键，它解决了在高维空间中点积过大导致softmax函数饱和的问题。</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多头注意力是对基础注意力机制的扩展。它的思想是，我们不只做一次注意力计算，而是做多次。通过将Q、K、V投影到多个不同的子空间，让模型可以同时学习多种不同类型的关系，比如有的头关注语法结构，有的头关注语义关联。最后将所有头的结果拼接起来，得到更丰富的特征表示。</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一个关键问题是，自注意力机制本身不关心词的顺序。为了解决这个问题，Transformer引入了位置编码。论文中使用的是正弦和余弦函数来生成位置信息。这种编码方式有很多优点，比如它能让模型学习到相对位置，并且可以处理比训练时更长的句子。这些位置编码信息通过简单的加法，与词嵌入结合在一起。</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现在我们来系统地对比一下Transformer和传统的RNN。最大的区别在于计算范式：RNN是串行的状态转移，而Transformer是并行的集合聚合。这带来了巨大的优势：完全的并行性、更快的训练速度，以及更优的长距离依赖处理能力。同时，Transformer的归纳偏置更弱，这既是挑战也是其强大通用性的来源。</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ransformer的“弱归纳偏置”曾被认为是一个缺陷，但事实证明这恰恰是它的最大优势。当有海量数据时，让模型自己去学习数据中的结构，比我们人为设计的先验更有效。这种灵活性使得Transformer能够轻松地从文本领域扩展到图像、语音，甚至蛋白质结构预测等完全不同的领域，成为一个真正的通用学习框架。</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Transformer的贡献是革命性的。它不仅证明了纯注意力架构的可行性，还系统化地提出了一套全新的设计范式。基于此，我们看到了NLP领域的BERT和GPT，CV领域的ViT，以及多模态和科学研究领域的众多突破。可以说，Transformer开启了一个全新的AI时代。</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当然，Transformer并非完美。它最大的问题是计算复杂度与序列长度的平方成正比，这使得处理超长文本非常困难。此外，自回归的解码方式在推理时仍然是串行的，限制了生成速度。在需要复杂逻辑链的推理任务上，Transformer也常表现出“幻觉”或逻辑断裂的现象。</a:t>
            </a:r>
            <a:endParaRPr lang="en-US" sz="1400" b="0" i="0" u="none" strike="noStrike">
              <a:solidFill>
                <a:srgbClr val="000000"/>
              </a:solidFill>
            </a:endParaRPr>
          </a:p>
          <a:p>
            <a:pPr indent="0" algn="l">
              <a:lnSpc>
                <a:spcPct val="100000"/>
              </a:lnSpc>
            </a:pPr>
            <a:r>
              <a:rPr lang="en-US" sz="1400" b="0" i="0" u="none" strike="noStrike">
                <a:solidFill>
                  <a:srgbClr val="000000"/>
                </a:solidFill>
              </a:rPr>
              <a:t>针对这些挑战，未来的研究方向非常明确：一是通过改进注意力机制（如稀疏注意力、FlashAttention）降低计算成本；二是探索非自回归生成模型以实现并行推理；三是通过思维链等技术增强模型的逻辑推理能力；最后，优化位置编码也是提升长序列处理能力的关键一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总结一下，Transformer的核心思想是将序列建模从模仿人类阅读的串行方式，转变为更适合GPU并行计算的集合信息聚合方式。它的成功告诉我们，有时候重新审视一些基本假设，可能会带来颠覆性的进步。Transformer不仅仅是一个模型，它代表了一种全新的思维方式，为我们通向更通用的人工智能开辟了新的道路。</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962400" cy="342900"/>
          </a:xfrm>
          <a:prstGeom prst="rect">
            <a:avLst/>
          </a:prstGeom>
        </p:spPr>
        <p:txBody>
          <a:bodyPr vert="horz" lIns="91440" tIns="45720" rIns="91440" bIns="45720" rtlCol="0"/>
          <a:lstStyle>
            <a:lvl1pPr algn="l">
              <a:defRPr sz="1200"/>
            </a:lvl1pPr>
          </a:lstStyle>
          <a:p/>
        </p:txBody>
      </p:sp>
      <p:sp>
        <p:nvSpPr>
          <p:cNvPr id="3" name="Date Placeholder 2"/>
          <p:cNvSpPr>
            <a:spLocks noGrp="1"/>
          </p:cNvSpPr>
          <p:nvPr>
            <p:ph type="dt" idx="1"/>
          </p:nvPr>
        </p:nvSpPr>
        <p:spPr>
          <a:xfrm>
            <a:off x="5180013" y="0"/>
            <a:ext cx="3962400" cy="342900"/>
          </a:xfrm>
          <a:prstGeom prst="rect">
            <a:avLst/>
          </a:prstGeom>
        </p:spPr>
        <p:txBody>
          <a:bodyPr vert="horz" lIns="91440" tIns="45720" rIns="91440" bIns="45720" rtlCol="0"/>
          <a:lstStyle>
            <a:lvl1pPr algn="r">
              <a:defRPr sz="1200"/>
            </a:lvl1pPr>
          </a:lstStyle>
          <a:p>
            <a:r>
              <a:rPr lang="cs-CZ" smtClean="0"/>
              <a:t>1.7.2013</a:t>
            </a:r>
            <a:endParaRPr lang="cs-CZ" smtClean="0"/>
          </a:p>
        </p:txBody>
      </p:sp>
      <p:sp>
        <p:nvSpPr>
          <p:cNvPr id="4" name="Slide Image Placeholder 3"/>
          <p:cNvSpPr>
            <a:spLocks noGrp="1" noRot="1" noChangeAspect="1"/>
          </p:cNvSpPr>
          <p:nvPr>
            <p:ph type="sldImg" idx="2"/>
          </p:nvPr>
        </p:nvSpPr>
        <p:spPr>
          <a:xfrm>
            <a:off x="2857500" y="512763"/>
            <a:ext cx="3429000" cy="2566987"/>
          </a:xfrm>
          <a:prstGeom prst="rect">
            <a:avLst/>
          </a:prstGeom>
          <a:noFill/>
          <a:ln w="12700">
            <a:solidFill>
              <a:prstClr val="black"/>
            </a:solidFill>
          </a:ln>
        </p:spPr>
        <p:txBody>
          <a:bodyPr vert="horz" lIns="91440" tIns="45720" rIns="91440" bIns="45720" rtlCol="0" anchor="ctr"/>
          <a:lstStyle/>
          <a:p/>
        </p:txBody>
      </p:sp>
      <p:sp>
        <p:nvSpPr>
          <p:cNvPr id="5" name="Notes Placeholder 4"/>
          <p:cNvSpPr>
            <a:spLocks noGrp="1"/>
          </p:cNvSpPr>
          <p:nvPr>
            <p:ph type="body" sz="quarter" idx="3"/>
          </p:nvPr>
        </p:nvSpPr>
        <p:spPr>
          <a:xfrm>
            <a:off x="914400" y="3251200"/>
            <a:ext cx="7315200" cy="3081338"/>
          </a:xfrm>
          <a:prstGeom prst="rect">
            <a:avLst/>
          </a:prstGeom>
        </p:spPr>
        <p:txBody>
          <a:bodyPr vert="horz" lIns="91440" tIns="45720" rIns="91440" bIns="45720" rtlCol="0" anchor="ctr"/>
          <a:lstStyle>
            <a:lvl1pPr algn="l">
              <a:defRPr sz="1400" b="0" i="0" u="none" strike="noStrike"/>
            </a:lvl1pPr>
          </a:lstStyle>
          <a:p>
            <a:pPr indent="0" algn="l">
              <a:lnSpc>
                <a:spcPct val="100000"/>
              </a:lnSpc>
            </a:pPr>
            <a:r>
              <a:rPr lang="en-US" sz="1400" b="0" i="0" u="none" strike="noStrike">
                <a:solidFill>
                  <a:srgbClr val="000000"/>
                </a:solidFill>
              </a:rPr>
              <a:t>我的分享到此结束，感谢大家的聆听。现在是问答环节，欢迎大家提问交流。</a:t>
            </a:r>
            <a:endParaRPr lang="en-US" sz="1400" b="0" i="0" u="none" strike="noStrike">
              <a:solidFill>
                <a:srgbClr val="000000"/>
              </a:solidFill>
            </a:endParaRPr>
          </a:p>
        </p:txBody>
      </p:sp>
      <p:sp>
        <p:nvSpPr>
          <p:cNvPr id="6" name="Footer Placeholder 5"/>
          <p:cNvSpPr>
            <a:spLocks noGrp="1"/>
          </p:cNvSpPr>
          <p:nvPr>
            <p:ph type="ftr" sz="quarter" idx="4"/>
          </p:nvPr>
        </p:nvSpPr>
        <p:spPr>
          <a:xfrm>
            <a:off x="0" y="6502400"/>
            <a:ext cx="3962400" cy="341313"/>
          </a:xfrm>
          <a:prstGeom prst="rect">
            <a:avLst/>
          </a:prstGeom>
        </p:spPr>
        <p:txBody>
          <a:bodyPr vert="horz" lIns="91440" tIns="45720" rIns="91440" bIns="45720" rtlCol="0" anchor="b"/>
          <a:lstStyle>
            <a:lvl1pPr algn="l">
              <a:defRPr sz="1200"/>
            </a:lvl1pPr>
          </a:lstStyle>
          <a:p/>
        </p:txBody>
      </p:sp>
      <p:sp>
        <p:nvSpPr>
          <p:cNvPr id="7" name="Slide Number Placeholder 6"/>
          <p:cNvSpPr>
            <a:spLocks noGrp="1"/>
          </p:cNvSpPr>
          <p:nvPr>
            <p:ph type="sldNum" sz="quarter" idx="5"/>
          </p:nvPr>
        </p:nvSpPr>
        <p:spPr>
          <a:xfrm>
            <a:off x="5180013" y="6502400"/>
            <a:ext cx="3962400" cy="341313"/>
          </a:xfrm>
          <a:prstGeom prst="rect">
            <a:avLst/>
          </a:prstGeom>
        </p:spPr>
        <p:txBody>
          <a:bodyPr vert="horz" lIns="91440" tIns="45720" rIns="91440" bIns="45720" rtlCol="0" anchor="b"/>
          <a:lstStyle>
            <a:lvl1pPr algn="r">
              <a:defRPr sz="1200"/>
            </a:lvl1pPr>
          </a:lstStyle>
          <a:p>
            <a:r>
              <a:rPr lang="cs-CZ" smtClean="0"/>
              <a:t>‹#›</a:t>
            </a:r>
            <a:endParaRPr lang="cs-CZ" smtClean="0"/>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matchingName="标题幻灯片">
  <p:cSld name="TITLE">
    <p:spTree>
      <p:nvGrpSpPr>
        <p:cNvPr id="11" name="Shape 11"/>
        <p:cNvGrpSpPr/>
        <p:nvPr/>
      </p:nvGrpSpPr>
      <p:grpSpPr>
        <a:xfrm>
          <a:off x="0" y="0"/>
          <a:ext cx="0" cy="0"/>
          <a:chOff x="0" y="0"/>
          <a:chExt cx="0" cy="0"/>
        </a:xfrm>
      </p:grpSpPr>
      <p:sp>
        <p:nvSpPr>
          <p:cNvPr id="12" name="Shape 30"/>
          <p:cNvSpPr txBox="1"/>
          <p:nvPr>
            <p:ph type="ctrTitle"/>
          </p:nvPr>
        </p:nvSpPr>
        <p:spPr>
          <a:xfrm>
            <a:off x="1143000" y="841772"/>
            <a:ext cx="6858000" cy="1790700"/>
          </a:xfrm>
          <a:prstGeom prst="rect">
            <a:avLst/>
          </a:prstGeom>
          <a:noFill/>
          <a:ln>
            <a:noFill/>
          </a:ln>
        </p:spPr>
        <p:txBody>
          <a:bodyPr spcFirstLastPara="1" wrap="square" lIns="68575" tIns="34275" rIns="68575" bIns="34275" anchor="b" anchorCtr="0">
            <a:normAutofit/>
          </a:bodyPr>
          <a:lstStyle>
            <a:lvl1pPr lvl="0" algn="ctr">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3" name="Shape 31"/>
          <p:cNvSpPr txBox="1"/>
          <p:nvPr>
            <p:ph type="subTitle" idx="1"/>
          </p:nvPr>
        </p:nvSpPr>
        <p:spPr>
          <a:xfrm>
            <a:off x="1143000" y="2701528"/>
            <a:ext cx="6858000" cy="1241821"/>
          </a:xfrm>
          <a:prstGeom prst="rect">
            <a:avLst/>
          </a:prstGeom>
          <a:noFill/>
          <a:ln>
            <a:noFill/>
          </a:ln>
        </p:spPr>
        <p:txBody>
          <a:bodyPr spcFirstLastPara="1" wrap="square" lIns="68575" tIns="34275" rIns="68575" bIns="34275" anchor="t" anchorCtr="0">
            <a:normAutofit/>
          </a:bodyPr>
          <a:lstStyle>
            <a:lvl1pPr lvl="0" algn="ctr">
              <a:lnSpc>
                <a:spcPct val="90000"/>
              </a:lnSpc>
              <a:spcBef>
                <a:spcPts val="800"/>
              </a:spcBef>
              <a:spcAft>
                <a:spcPts val="0"/>
              </a:spcAft>
              <a:buClr>
                <a:schemeClr val="dk1"/>
              </a:buClr>
              <a:buSzPts val="1800"/>
              <a:buNone/>
              <a:defRPr sz="1800"/>
            </a:lvl1pPr>
            <a:lvl2pPr lvl="1" algn="ctr">
              <a:lnSpc>
                <a:spcPct val="90000"/>
              </a:lnSpc>
              <a:spcBef>
                <a:spcPts val="400"/>
              </a:spcBef>
              <a:spcAft>
                <a:spcPts val="0"/>
              </a:spcAft>
              <a:buClr>
                <a:schemeClr val="dk1"/>
              </a:buClr>
              <a:buSzPts val="1500"/>
              <a:buNone/>
              <a:defRPr sz="1500"/>
            </a:lvl2pPr>
            <a:lvl3pPr lvl="2" algn="ctr">
              <a:lnSpc>
                <a:spcPct val="90000"/>
              </a:lnSpc>
              <a:spcBef>
                <a:spcPts val="400"/>
              </a:spcBef>
              <a:spcAft>
                <a:spcPts val="0"/>
              </a:spcAft>
              <a:buClr>
                <a:schemeClr val="dk1"/>
              </a:buClr>
              <a:buSzPts val="1400"/>
              <a:buNone/>
              <a:defRPr sz="1400"/>
            </a:lvl3pPr>
            <a:lvl4pPr lvl="3" algn="ctr">
              <a:lnSpc>
                <a:spcPct val="90000"/>
              </a:lnSpc>
              <a:spcBef>
                <a:spcPts val="400"/>
              </a:spcBef>
              <a:spcAft>
                <a:spcPts val="0"/>
              </a:spcAft>
              <a:buClr>
                <a:schemeClr val="dk1"/>
              </a:buClr>
              <a:buSzPts val="1200"/>
              <a:buNone/>
              <a:defRPr sz="1200"/>
            </a:lvl4pPr>
            <a:lvl5pPr lvl="4" algn="ctr">
              <a:lnSpc>
                <a:spcPct val="90000"/>
              </a:lnSpc>
              <a:spcBef>
                <a:spcPts val="400"/>
              </a:spcBef>
              <a:spcAft>
                <a:spcPts val="0"/>
              </a:spcAft>
              <a:buClr>
                <a:schemeClr val="dk1"/>
              </a:buClr>
              <a:buSzPts val="1200"/>
              <a:buNone/>
              <a:defRPr sz="1200"/>
            </a:lvl5pPr>
            <a:lvl6pPr lvl="5" algn="ctr">
              <a:lnSpc>
                <a:spcPct val="90000"/>
              </a:lnSpc>
              <a:spcBef>
                <a:spcPts val="400"/>
              </a:spcBef>
              <a:spcAft>
                <a:spcPts val="0"/>
              </a:spcAft>
              <a:buClr>
                <a:schemeClr val="dk1"/>
              </a:buClr>
              <a:buSzPts val="1200"/>
              <a:buNone/>
              <a:defRPr sz="1200"/>
            </a:lvl6pPr>
            <a:lvl7pPr lvl="6" algn="ctr">
              <a:lnSpc>
                <a:spcPct val="90000"/>
              </a:lnSpc>
              <a:spcBef>
                <a:spcPts val="400"/>
              </a:spcBef>
              <a:spcAft>
                <a:spcPts val="0"/>
              </a:spcAft>
              <a:buClr>
                <a:schemeClr val="dk1"/>
              </a:buClr>
              <a:buSzPts val="1200"/>
              <a:buNone/>
              <a:defRPr sz="1200"/>
            </a:lvl7pPr>
            <a:lvl8pPr lvl="7" algn="ctr">
              <a:lnSpc>
                <a:spcPct val="90000"/>
              </a:lnSpc>
              <a:spcBef>
                <a:spcPts val="400"/>
              </a:spcBef>
              <a:spcAft>
                <a:spcPts val="0"/>
              </a:spcAft>
              <a:buClr>
                <a:schemeClr val="dk1"/>
              </a:buClr>
              <a:buSzPts val="1200"/>
              <a:buNone/>
              <a:defRPr sz="1200"/>
            </a:lvl8pPr>
            <a:lvl9pPr lvl="8" algn="ctr">
              <a:lnSpc>
                <a:spcPct val="90000"/>
              </a:lnSpc>
              <a:spcBef>
                <a:spcPts val="400"/>
              </a:spcBef>
              <a:spcAft>
                <a:spcPts val="0"/>
              </a:spcAft>
              <a:buClr>
                <a:schemeClr val="dk1"/>
              </a:buClr>
              <a:buSzPts val="1200"/>
              <a:buNone/>
              <a:defRPr sz="1200"/>
            </a:lvl9pPr>
          </a:lstStyle>
          <a:p/>
        </p:txBody>
      </p:sp>
      <p:sp>
        <p:nvSpPr>
          <p:cNvPr id="14" name="Shape 3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5" name="Shape 3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16" name="Shape 3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matchingName="标题和内容">
  <p:cSld name="OBJECT">
    <p:spTree>
      <p:nvGrpSpPr>
        <p:cNvPr id="17" name="Shape 17"/>
        <p:cNvGrpSpPr/>
        <p:nvPr/>
      </p:nvGrpSpPr>
      <p:grpSpPr>
        <a:xfrm>
          <a:off x="0" y="0"/>
          <a:ext cx="0" cy="0"/>
          <a:chOff x="0" y="0"/>
          <a:chExt cx="0" cy="0"/>
        </a:xfrm>
      </p:grpSpPr>
      <p:sp>
        <p:nvSpPr>
          <p:cNvPr id="18" name="Shape 54"/>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9" name="Shape 55"/>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20" name="Shape 5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1" name="Shape 5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2" name="Shape 5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matchingName="节标题">
  <p:cSld name="SECTION_HEADER">
    <p:spTree>
      <p:nvGrpSpPr>
        <p:cNvPr id="23" name="Shape 23"/>
        <p:cNvGrpSpPr/>
        <p:nvPr/>
      </p:nvGrpSpPr>
      <p:grpSpPr>
        <a:xfrm>
          <a:off x="0" y="0"/>
          <a:ext cx="0" cy="0"/>
          <a:chOff x="0" y="0"/>
          <a:chExt cx="0" cy="0"/>
        </a:xfrm>
      </p:grpSpPr>
      <p:sp>
        <p:nvSpPr>
          <p:cNvPr id="24" name="Shape 59"/>
          <p:cNvSpPr txBox="1"/>
          <p:nvPr>
            <p:ph type="title"/>
          </p:nvPr>
        </p:nvSpPr>
        <p:spPr>
          <a:xfrm>
            <a:off x="623888" y="1282304"/>
            <a:ext cx="7886700" cy="2139553"/>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4500"/>
              <a:buFont typeface="Arial" panose="020B0604020202020204"/>
              <a:buNone/>
              <a:defRPr sz="45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25" name="Shape 60"/>
          <p:cNvSpPr txBox="1"/>
          <p:nvPr>
            <p:ph type="body" idx="1"/>
          </p:nvPr>
        </p:nvSpPr>
        <p:spPr>
          <a:xfrm>
            <a:off x="623888" y="3442097"/>
            <a:ext cx="7886700" cy="1125140"/>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rgbClr val="888888"/>
              </a:buClr>
              <a:buSzPts val="1800"/>
              <a:buNone/>
              <a:defRPr sz="1800">
                <a:solidFill>
                  <a:srgbClr val="888888"/>
                </a:solidFill>
              </a:defRPr>
            </a:lvl1pPr>
            <a:lvl2pPr marL="914400" lvl="1" indent="-228600" algn="l">
              <a:lnSpc>
                <a:spcPct val="90000"/>
              </a:lnSpc>
              <a:spcBef>
                <a:spcPts val="400"/>
              </a:spcBef>
              <a:spcAft>
                <a:spcPts val="0"/>
              </a:spcAft>
              <a:buClr>
                <a:srgbClr val="888888"/>
              </a:buClr>
              <a:buSzPts val="1500"/>
              <a:buNone/>
              <a:defRPr sz="1500">
                <a:solidFill>
                  <a:srgbClr val="888888"/>
                </a:solidFill>
              </a:defRPr>
            </a:lvl2pPr>
            <a:lvl3pPr marL="1371600" lvl="2" indent="-228600" algn="l">
              <a:lnSpc>
                <a:spcPct val="90000"/>
              </a:lnSpc>
              <a:spcBef>
                <a:spcPts val="400"/>
              </a:spcBef>
              <a:spcAft>
                <a:spcPts val="0"/>
              </a:spcAft>
              <a:buClr>
                <a:srgbClr val="888888"/>
              </a:buClr>
              <a:buSzPts val="1400"/>
              <a:buNone/>
              <a:defRPr sz="1400">
                <a:solidFill>
                  <a:srgbClr val="888888"/>
                </a:solidFill>
              </a:defRPr>
            </a:lvl3pPr>
            <a:lvl4pPr marL="1828800" lvl="3" indent="-228600" algn="l">
              <a:lnSpc>
                <a:spcPct val="90000"/>
              </a:lnSpc>
              <a:spcBef>
                <a:spcPts val="400"/>
              </a:spcBef>
              <a:spcAft>
                <a:spcPts val="0"/>
              </a:spcAft>
              <a:buClr>
                <a:srgbClr val="888888"/>
              </a:buClr>
              <a:buSzPts val="1200"/>
              <a:buNone/>
              <a:defRPr sz="1200">
                <a:solidFill>
                  <a:srgbClr val="888888"/>
                </a:solidFill>
              </a:defRPr>
            </a:lvl4pPr>
            <a:lvl5pPr marL="2286000" lvl="4" indent="-228600" algn="l">
              <a:lnSpc>
                <a:spcPct val="90000"/>
              </a:lnSpc>
              <a:spcBef>
                <a:spcPts val="400"/>
              </a:spcBef>
              <a:spcAft>
                <a:spcPts val="0"/>
              </a:spcAft>
              <a:buClr>
                <a:srgbClr val="888888"/>
              </a:buClr>
              <a:buSzPts val="1200"/>
              <a:buNone/>
              <a:defRPr sz="1200">
                <a:solidFill>
                  <a:srgbClr val="888888"/>
                </a:solidFill>
              </a:defRPr>
            </a:lvl5pPr>
            <a:lvl6pPr marL="2743200" lvl="5" indent="-228600" algn="l">
              <a:lnSpc>
                <a:spcPct val="90000"/>
              </a:lnSpc>
              <a:spcBef>
                <a:spcPts val="400"/>
              </a:spcBef>
              <a:spcAft>
                <a:spcPts val="0"/>
              </a:spcAft>
              <a:buClr>
                <a:srgbClr val="888888"/>
              </a:buClr>
              <a:buSzPts val="1200"/>
              <a:buNone/>
              <a:defRPr sz="1200">
                <a:solidFill>
                  <a:srgbClr val="888888"/>
                </a:solidFill>
              </a:defRPr>
            </a:lvl6pPr>
            <a:lvl7pPr marL="3200400" lvl="6" indent="-228600" algn="l">
              <a:lnSpc>
                <a:spcPct val="90000"/>
              </a:lnSpc>
              <a:spcBef>
                <a:spcPts val="400"/>
              </a:spcBef>
              <a:spcAft>
                <a:spcPts val="0"/>
              </a:spcAft>
              <a:buClr>
                <a:srgbClr val="888888"/>
              </a:buClr>
              <a:buSzPts val="1200"/>
              <a:buNone/>
              <a:defRPr sz="1200">
                <a:solidFill>
                  <a:srgbClr val="888888"/>
                </a:solidFill>
              </a:defRPr>
            </a:lvl7pPr>
            <a:lvl8pPr marL="3657600" lvl="7" indent="-228600" algn="l">
              <a:lnSpc>
                <a:spcPct val="90000"/>
              </a:lnSpc>
              <a:spcBef>
                <a:spcPts val="400"/>
              </a:spcBef>
              <a:spcAft>
                <a:spcPts val="0"/>
              </a:spcAft>
              <a:buClr>
                <a:srgbClr val="888888"/>
              </a:buClr>
              <a:buSzPts val="1200"/>
              <a:buNone/>
              <a:defRPr sz="1200">
                <a:solidFill>
                  <a:srgbClr val="888888"/>
                </a:solidFill>
              </a:defRPr>
            </a:lvl8pPr>
            <a:lvl9pPr marL="4114800" lvl="8" indent="-228600" algn="l">
              <a:lnSpc>
                <a:spcPct val="90000"/>
              </a:lnSpc>
              <a:spcBef>
                <a:spcPts val="400"/>
              </a:spcBef>
              <a:spcAft>
                <a:spcPts val="0"/>
              </a:spcAft>
              <a:buClr>
                <a:srgbClr val="888888"/>
              </a:buClr>
              <a:buSzPts val="1200"/>
              <a:buNone/>
              <a:defRPr sz="1200">
                <a:solidFill>
                  <a:srgbClr val="888888"/>
                </a:solidFill>
              </a:defRPr>
            </a:lvl9pPr>
          </a:lstStyle>
          <a:p/>
        </p:txBody>
      </p:sp>
      <p:sp>
        <p:nvSpPr>
          <p:cNvPr id="26" name="Shape 6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7" name="Shape 6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28" name="Shape 6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matchingName="两栏内容">
  <p:cSld name="TWO_OBJECTS">
    <p:spTree>
      <p:nvGrpSpPr>
        <p:cNvPr id="29" name="Shape 29"/>
        <p:cNvGrpSpPr/>
        <p:nvPr/>
      </p:nvGrpSpPr>
      <p:grpSpPr>
        <a:xfrm>
          <a:off x="0" y="0"/>
          <a:ext cx="0" cy="0"/>
          <a:chOff x="0" y="0"/>
          <a:chExt cx="0" cy="0"/>
        </a:xfrm>
      </p:grpSpPr>
      <p:sp>
        <p:nvSpPr>
          <p:cNvPr id="30" name="Shape 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1" name="Shape 10"/>
          <p:cNvSpPr txBox="1"/>
          <p:nvPr>
            <p:ph type="body" idx="1"/>
          </p:nvPr>
        </p:nvSpPr>
        <p:spPr>
          <a:xfrm>
            <a:off x="6286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2" name="Shape 11"/>
          <p:cNvSpPr txBox="1"/>
          <p:nvPr>
            <p:ph type="body" idx="2"/>
          </p:nvPr>
        </p:nvSpPr>
        <p:spPr>
          <a:xfrm>
            <a:off x="4629150" y="1369219"/>
            <a:ext cx="3886200" cy="3263504"/>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33" name="Shape 12"/>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4" name="Shape 13"/>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35" name="Shape 14"/>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matchingName="比较">
  <p:cSld name="TWO_OBJECTS_WITH_TEXT">
    <p:spTree>
      <p:nvGrpSpPr>
        <p:cNvPr id="36" name="Shape 36"/>
        <p:cNvGrpSpPr/>
        <p:nvPr/>
      </p:nvGrpSpPr>
      <p:grpSpPr>
        <a:xfrm>
          <a:off x="0" y="0"/>
          <a:ext cx="0" cy="0"/>
          <a:chOff x="0" y="0"/>
          <a:chExt cx="0" cy="0"/>
        </a:xfrm>
      </p:grpSpPr>
      <p:sp>
        <p:nvSpPr>
          <p:cNvPr id="37" name="Shape 35"/>
          <p:cNvSpPr txBox="1"/>
          <p:nvPr>
            <p:ph type="title"/>
          </p:nvPr>
        </p:nvSpPr>
        <p:spPr>
          <a:xfrm>
            <a:off x="629841"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38" name="Shape 36"/>
          <p:cNvSpPr txBox="1"/>
          <p:nvPr>
            <p:ph type="body" idx="1"/>
          </p:nvPr>
        </p:nvSpPr>
        <p:spPr>
          <a:xfrm>
            <a:off x="629841" y="1260872"/>
            <a:ext cx="3868340"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39" name="Shape 37"/>
          <p:cNvSpPr txBox="1"/>
          <p:nvPr>
            <p:ph type="body" idx="2"/>
          </p:nvPr>
        </p:nvSpPr>
        <p:spPr>
          <a:xfrm>
            <a:off x="629841" y="1878806"/>
            <a:ext cx="3868340"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0" name="Shape 38"/>
          <p:cNvSpPr txBox="1"/>
          <p:nvPr>
            <p:ph type="body" idx="3"/>
          </p:nvPr>
        </p:nvSpPr>
        <p:spPr>
          <a:xfrm>
            <a:off x="4629150" y="1260872"/>
            <a:ext cx="3887391" cy="617934"/>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400"/>
              </a:spcBef>
              <a:spcAft>
                <a:spcPts val="0"/>
              </a:spcAft>
              <a:buClr>
                <a:schemeClr val="dk1"/>
              </a:buClr>
              <a:buSzPts val="1500"/>
              <a:buNone/>
              <a:defRPr sz="1500" b="1"/>
            </a:lvl2pPr>
            <a:lvl3pPr marL="1371600" lvl="2" indent="-228600" algn="l">
              <a:lnSpc>
                <a:spcPct val="90000"/>
              </a:lnSpc>
              <a:spcBef>
                <a:spcPts val="400"/>
              </a:spcBef>
              <a:spcAft>
                <a:spcPts val="0"/>
              </a:spcAft>
              <a:buClr>
                <a:schemeClr val="dk1"/>
              </a:buClr>
              <a:buSzPts val="1400"/>
              <a:buNone/>
              <a:defRPr sz="1400" b="1"/>
            </a:lvl3pPr>
            <a:lvl4pPr marL="1828800" lvl="3" indent="-228600" algn="l">
              <a:lnSpc>
                <a:spcPct val="90000"/>
              </a:lnSpc>
              <a:spcBef>
                <a:spcPts val="400"/>
              </a:spcBef>
              <a:spcAft>
                <a:spcPts val="0"/>
              </a:spcAft>
              <a:buClr>
                <a:schemeClr val="dk1"/>
              </a:buClr>
              <a:buSzPts val="1200"/>
              <a:buNone/>
              <a:defRPr sz="1200" b="1"/>
            </a:lvl4pPr>
            <a:lvl5pPr marL="2286000" lvl="4" indent="-228600" algn="l">
              <a:lnSpc>
                <a:spcPct val="90000"/>
              </a:lnSpc>
              <a:spcBef>
                <a:spcPts val="400"/>
              </a:spcBef>
              <a:spcAft>
                <a:spcPts val="0"/>
              </a:spcAft>
              <a:buClr>
                <a:schemeClr val="dk1"/>
              </a:buClr>
              <a:buSzPts val="1200"/>
              <a:buNone/>
              <a:defRPr sz="1200" b="1"/>
            </a:lvl5pPr>
            <a:lvl6pPr marL="2743200" lvl="5" indent="-228600" algn="l">
              <a:lnSpc>
                <a:spcPct val="90000"/>
              </a:lnSpc>
              <a:spcBef>
                <a:spcPts val="400"/>
              </a:spcBef>
              <a:spcAft>
                <a:spcPts val="0"/>
              </a:spcAft>
              <a:buClr>
                <a:schemeClr val="dk1"/>
              </a:buClr>
              <a:buSzPts val="1200"/>
              <a:buNone/>
              <a:defRPr sz="1200" b="1"/>
            </a:lvl6pPr>
            <a:lvl7pPr marL="3200400" lvl="6" indent="-228600" algn="l">
              <a:lnSpc>
                <a:spcPct val="90000"/>
              </a:lnSpc>
              <a:spcBef>
                <a:spcPts val="400"/>
              </a:spcBef>
              <a:spcAft>
                <a:spcPts val="0"/>
              </a:spcAft>
              <a:buClr>
                <a:schemeClr val="dk1"/>
              </a:buClr>
              <a:buSzPts val="1200"/>
              <a:buNone/>
              <a:defRPr sz="1200" b="1"/>
            </a:lvl7pPr>
            <a:lvl8pPr marL="3657600" lvl="7" indent="-228600" algn="l">
              <a:lnSpc>
                <a:spcPct val="90000"/>
              </a:lnSpc>
              <a:spcBef>
                <a:spcPts val="400"/>
              </a:spcBef>
              <a:spcAft>
                <a:spcPts val="0"/>
              </a:spcAft>
              <a:buClr>
                <a:schemeClr val="dk1"/>
              </a:buClr>
              <a:buSzPts val="1200"/>
              <a:buNone/>
              <a:defRPr sz="1200" b="1"/>
            </a:lvl8pPr>
            <a:lvl9pPr marL="4114800" lvl="8" indent="-228600" algn="l">
              <a:lnSpc>
                <a:spcPct val="90000"/>
              </a:lnSpc>
              <a:spcBef>
                <a:spcPts val="400"/>
              </a:spcBef>
              <a:spcAft>
                <a:spcPts val="0"/>
              </a:spcAft>
              <a:buClr>
                <a:schemeClr val="dk1"/>
              </a:buClr>
              <a:buSzPts val="1200"/>
              <a:buNone/>
              <a:defRPr sz="1200" b="1"/>
            </a:lvl9pPr>
          </a:lstStyle>
          <a:p/>
        </p:txBody>
      </p:sp>
      <p:sp>
        <p:nvSpPr>
          <p:cNvPr id="41" name="Shape 39"/>
          <p:cNvSpPr txBox="1"/>
          <p:nvPr>
            <p:ph type="body" idx="4"/>
          </p:nvPr>
        </p:nvSpPr>
        <p:spPr>
          <a:xfrm>
            <a:off x="4629150" y="1878806"/>
            <a:ext cx="3887391" cy="2763441"/>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42" name="Shape 40"/>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3" name="Shape 41"/>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4" name="Shape 42"/>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matchingName="仅标题">
  <p:cSld name="TITLE_ONLY">
    <p:spTree>
      <p:nvGrpSpPr>
        <p:cNvPr id="45" name="Shape 45"/>
        <p:cNvGrpSpPr/>
        <p:nvPr/>
      </p:nvGrpSpPr>
      <p:grpSpPr>
        <a:xfrm>
          <a:off x="0" y="0"/>
          <a:ext cx="0" cy="0"/>
          <a:chOff x="0" y="0"/>
          <a:chExt cx="0" cy="0"/>
        </a:xfrm>
      </p:grpSpPr>
      <p:sp>
        <p:nvSpPr>
          <p:cNvPr id="46" name="Shape 20"/>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47" name="Shape 2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8" name="Shape 2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49" name="Shape 2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matchingName="空白">
  <p:cSld name="BLANK">
    <p:spTree>
      <p:nvGrpSpPr>
        <p:cNvPr id="50" name="Shape 50"/>
        <p:cNvGrpSpPr/>
        <p:nvPr/>
      </p:nvGrpSpPr>
      <p:grpSpPr>
        <a:xfrm>
          <a:off x="0" y="0"/>
          <a:ext cx="0" cy="0"/>
          <a:chOff x="0" y="0"/>
          <a:chExt cx="0" cy="0"/>
        </a:xfrm>
      </p:grpSpPr>
      <p:sp>
        <p:nvSpPr>
          <p:cNvPr id="51" name="Shape 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2" name="Shape 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3" name="Shape 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matchingName="内容与标题">
  <p:cSld name="OBJECT_WITH_CAPTION_TEXT">
    <p:spTree>
      <p:nvGrpSpPr>
        <p:cNvPr id="54" name="Shape 54"/>
        <p:cNvGrpSpPr/>
        <p:nvPr/>
      </p:nvGrpSpPr>
      <p:grpSpPr>
        <a:xfrm>
          <a:off x="0" y="0"/>
          <a:ext cx="0" cy="0"/>
          <a:chOff x="0" y="0"/>
          <a:chExt cx="0" cy="0"/>
        </a:xfrm>
      </p:grpSpPr>
      <p:sp>
        <p:nvSpPr>
          <p:cNvPr id="55" name="Shape 43"/>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56" name="Shape 44"/>
          <p:cNvSpPr txBox="1"/>
          <p:nvPr>
            <p:ph type="body" idx="1"/>
          </p:nvPr>
        </p:nvSpPr>
        <p:spPr>
          <a:xfrm>
            <a:off x="3887391" y="740569"/>
            <a:ext cx="4629150" cy="3655219"/>
          </a:xfrm>
          <a:prstGeom prst="rect">
            <a:avLst/>
          </a:prstGeom>
          <a:noFill/>
          <a:ln>
            <a:noFill/>
          </a:ln>
        </p:spPr>
        <p:txBody>
          <a:bodyPr spcFirstLastPara="1" wrap="square" lIns="68575" tIns="34275" rIns="68575" bIns="34275" anchor="t" anchorCtr="0">
            <a:normAutofit/>
          </a:bodyPr>
          <a:lstStyle>
            <a:lvl1pPr marL="457200" lvl="0" indent="-381000" algn="l">
              <a:lnSpc>
                <a:spcPct val="90000"/>
              </a:lnSpc>
              <a:spcBef>
                <a:spcPts val="800"/>
              </a:spcBef>
              <a:spcAft>
                <a:spcPts val="0"/>
              </a:spcAft>
              <a:buClr>
                <a:schemeClr val="dk1"/>
              </a:buClr>
              <a:buSzPts val="2400"/>
              <a:buChar char="•"/>
              <a:defRPr sz="2400"/>
            </a:lvl1pPr>
            <a:lvl2pPr marL="914400" lvl="1" indent="-361950" algn="l">
              <a:lnSpc>
                <a:spcPct val="90000"/>
              </a:lnSpc>
              <a:spcBef>
                <a:spcPts val="400"/>
              </a:spcBef>
              <a:spcAft>
                <a:spcPts val="0"/>
              </a:spcAft>
              <a:buClr>
                <a:schemeClr val="dk1"/>
              </a:buClr>
              <a:buSzPts val="2100"/>
              <a:buChar char="•"/>
              <a:defRPr sz="2100"/>
            </a:lvl2pPr>
            <a:lvl3pPr marL="1371600" lvl="2" indent="-342900" algn="l">
              <a:lnSpc>
                <a:spcPct val="90000"/>
              </a:lnSpc>
              <a:spcBef>
                <a:spcPts val="400"/>
              </a:spcBef>
              <a:spcAft>
                <a:spcPts val="0"/>
              </a:spcAft>
              <a:buClr>
                <a:schemeClr val="dk1"/>
              </a:buClr>
              <a:buSzPts val="1800"/>
              <a:buChar char="•"/>
              <a:defRPr sz="1800"/>
            </a:lvl3pPr>
            <a:lvl4pPr marL="1828800" lvl="3" indent="-323850" algn="l">
              <a:lnSpc>
                <a:spcPct val="90000"/>
              </a:lnSpc>
              <a:spcBef>
                <a:spcPts val="400"/>
              </a:spcBef>
              <a:spcAft>
                <a:spcPts val="0"/>
              </a:spcAft>
              <a:buClr>
                <a:schemeClr val="dk1"/>
              </a:buClr>
              <a:buSzPts val="1500"/>
              <a:buChar char="•"/>
              <a:defRPr sz="1500"/>
            </a:lvl4pPr>
            <a:lvl5pPr marL="2286000" lvl="4" indent="-323850" algn="l">
              <a:lnSpc>
                <a:spcPct val="90000"/>
              </a:lnSpc>
              <a:spcBef>
                <a:spcPts val="400"/>
              </a:spcBef>
              <a:spcAft>
                <a:spcPts val="0"/>
              </a:spcAft>
              <a:buClr>
                <a:schemeClr val="dk1"/>
              </a:buClr>
              <a:buSzPts val="1500"/>
              <a:buChar char="•"/>
              <a:defRPr sz="1500"/>
            </a:lvl5pPr>
            <a:lvl6pPr marL="2743200" lvl="5" indent="-323850" algn="l">
              <a:lnSpc>
                <a:spcPct val="90000"/>
              </a:lnSpc>
              <a:spcBef>
                <a:spcPts val="400"/>
              </a:spcBef>
              <a:spcAft>
                <a:spcPts val="0"/>
              </a:spcAft>
              <a:buClr>
                <a:schemeClr val="dk1"/>
              </a:buClr>
              <a:buSzPts val="1500"/>
              <a:buChar char="•"/>
              <a:defRPr sz="1500"/>
            </a:lvl6pPr>
            <a:lvl7pPr marL="3200400" lvl="6" indent="-323850" algn="l">
              <a:lnSpc>
                <a:spcPct val="90000"/>
              </a:lnSpc>
              <a:spcBef>
                <a:spcPts val="400"/>
              </a:spcBef>
              <a:spcAft>
                <a:spcPts val="0"/>
              </a:spcAft>
              <a:buClr>
                <a:schemeClr val="dk1"/>
              </a:buClr>
              <a:buSzPts val="1500"/>
              <a:buChar char="•"/>
              <a:defRPr sz="1500"/>
            </a:lvl7pPr>
            <a:lvl8pPr marL="3657600" lvl="7" indent="-323850" algn="l">
              <a:lnSpc>
                <a:spcPct val="90000"/>
              </a:lnSpc>
              <a:spcBef>
                <a:spcPts val="400"/>
              </a:spcBef>
              <a:spcAft>
                <a:spcPts val="0"/>
              </a:spcAft>
              <a:buClr>
                <a:schemeClr val="dk1"/>
              </a:buClr>
              <a:buSzPts val="1500"/>
              <a:buChar char="•"/>
              <a:defRPr sz="1500"/>
            </a:lvl8pPr>
            <a:lvl9pPr marL="4114800" lvl="8" indent="-323850" algn="l">
              <a:lnSpc>
                <a:spcPct val="90000"/>
              </a:lnSpc>
              <a:spcBef>
                <a:spcPts val="400"/>
              </a:spcBef>
              <a:spcAft>
                <a:spcPts val="0"/>
              </a:spcAft>
              <a:buClr>
                <a:schemeClr val="dk1"/>
              </a:buClr>
              <a:buSzPts val="1500"/>
              <a:buChar char="•"/>
              <a:defRPr sz="1500"/>
            </a:lvl9pPr>
          </a:lstStyle>
          <a:p/>
        </p:txBody>
      </p:sp>
      <p:sp>
        <p:nvSpPr>
          <p:cNvPr id="57" name="Shape 45"/>
          <p:cNvSpPr txBox="1"/>
          <p:nvPr>
            <p:ph type="body" idx="2"/>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58" name="Shape 46"/>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59" name="Shape 47"/>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0" name="Shape 48"/>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matchingName="图片与标题">
  <p:cSld name="PICTURE_WITH_CAPTION_TEXT">
    <p:spTree>
      <p:nvGrpSpPr>
        <p:cNvPr id="61" name="Shape 61"/>
        <p:cNvGrpSpPr/>
        <p:nvPr/>
      </p:nvGrpSpPr>
      <p:grpSpPr>
        <a:xfrm>
          <a:off x="0" y="0"/>
          <a:ext cx="0" cy="0"/>
          <a:chOff x="0" y="0"/>
          <a:chExt cx="0" cy="0"/>
        </a:xfrm>
      </p:grpSpPr>
      <p:sp>
        <p:nvSpPr>
          <p:cNvPr id="62" name="Shape 24"/>
          <p:cNvSpPr txBox="1"/>
          <p:nvPr>
            <p:ph type="title"/>
          </p:nvPr>
        </p:nvSpPr>
        <p:spPr>
          <a:xfrm>
            <a:off x="629841" y="342900"/>
            <a:ext cx="2949178" cy="1200150"/>
          </a:xfrm>
          <a:prstGeom prst="rect">
            <a:avLst/>
          </a:prstGeom>
          <a:noFill/>
          <a:ln>
            <a:noFill/>
          </a:ln>
        </p:spPr>
        <p:txBody>
          <a:bodyPr spcFirstLastPara="1" wrap="square" lIns="68575" tIns="34275" rIns="68575" bIns="34275" anchor="b" anchorCtr="0">
            <a:normAutofit/>
          </a:bodyPr>
          <a:lstStyle>
            <a:lvl1pPr lvl="0" algn="l">
              <a:lnSpc>
                <a:spcPct val="90000"/>
              </a:lnSpc>
              <a:spcBef>
                <a:spcPts val="0"/>
              </a:spcBef>
              <a:spcAft>
                <a:spcPts val="0"/>
              </a:spcAft>
              <a:buClr>
                <a:schemeClr val="dk1"/>
              </a:buClr>
              <a:buSzPts val="2400"/>
              <a:buFont typeface="Arial" panose="020B0604020202020204"/>
              <a:buNone/>
              <a:defRPr sz="2400"/>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Shape 25"/>
          <p:cNvSpPr/>
          <p:nvPr>
            <p:ph type="pic" idx="2"/>
          </p:nvPr>
        </p:nvSpPr>
        <p:spPr>
          <a:xfrm>
            <a:off x="3887391" y="740569"/>
            <a:ext cx="4629150" cy="3655219"/>
          </a:xfrm>
          <a:prstGeom prst="rect">
            <a:avLst/>
          </a:prstGeom>
          <a:noFill/>
          <a:ln>
            <a:noFill/>
          </a:ln>
        </p:spPr>
      </p:sp>
      <p:sp>
        <p:nvSpPr>
          <p:cNvPr id="64" name="Shape 26"/>
          <p:cNvSpPr txBox="1"/>
          <p:nvPr>
            <p:ph type="body" idx="1"/>
          </p:nvPr>
        </p:nvSpPr>
        <p:spPr>
          <a:xfrm>
            <a:off x="629841" y="1543050"/>
            <a:ext cx="2949178" cy="2858691"/>
          </a:xfrm>
          <a:prstGeom prst="rect">
            <a:avLst/>
          </a:prstGeom>
          <a:noFill/>
          <a:ln>
            <a:noFill/>
          </a:ln>
        </p:spPr>
        <p:txBody>
          <a:bodyPr spcFirstLastPara="1" wrap="square" lIns="68575" tIns="34275" rIns="68575" bIns="34275" anchor="t" anchorCtr="0">
            <a:normAutofit/>
          </a:bodyPr>
          <a:lstStyle>
            <a:lvl1pPr marL="457200" lvl="0" indent="-228600" algn="l">
              <a:lnSpc>
                <a:spcPct val="90000"/>
              </a:lnSpc>
              <a:spcBef>
                <a:spcPts val="800"/>
              </a:spcBef>
              <a:spcAft>
                <a:spcPts val="0"/>
              </a:spcAft>
              <a:buClr>
                <a:schemeClr val="dk1"/>
              </a:buClr>
              <a:buSzPts val="1200"/>
              <a:buNone/>
              <a:defRPr sz="1200"/>
            </a:lvl1pPr>
            <a:lvl2pPr marL="914400" lvl="1" indent="-228600" algn="l">
              <a:lnSpc>
                <a:spcPct val="90000"/>
              </a:lnSpc>
              <a:spcBef>
                <a:spcPts val="400"/>
              </a:spcBef>
              <a:spcAft>
                <a:spcPts val="0"/>
              </a:spcAft>
              <a:buClr>
                <a:schemeClr val="dk1"/>
              </a:buClr>
              <a:buSzPts val="1100"/>
              <a:buNone/>
              <a:defRPr sz="1100"/>
            </a:lvl2pPr>
            <a:lvl3pPr marL="1371600" lvl="2" indent="-228600" algn="l">
              <a:lnSpc>
                <a:spcPct val="90000"/>
              </a:lnSpc>
              <a:spcBef>
                <a:spcPts val="400"/>
              </a:spcBef>
              <a:spcAft>
                <a:spcPts val="0"/>
              </a:spcAft>
              <a:buClr>
                <a:schemeClr val="dk1"/>
              </a:buClr>
              <a:buSzPts val="900"/>
              <a:buNone/>
              <a:defRPr sz="900"/>
            </a:lvl3pPr>
            <a:lvl4pPr marL="1828800" lvl="3" indent="-228600" algn="l">
              <a:lnSpc>
                <a:spcPct val="90000"/>
              </a:lnSpc>
              <a:spcBef>
                <a:spcPts val="400"/>
              </a:spcBef>
              <a:spcAft>
                <a:spcPts val="0"/>
              </a:spcAft>
              <a:buClr>
                <a:schemeClr val="dk1"/>
              </a:buClr>
              <a:buSzPts val="800"/>
              <a:buNone/>
              <a:defRPr sz="800"/>
            </a:lvl4pPr>
            <a:lvl5pPr marL="2286000" lvl="4" indent="-228600" algn="l">
              <a:lnSpc>
                <a:spcPct val="90000"/>
              </a:lnSpc>
              <a:spcBef>
                <a:spcPts val="400"/>
              </a:spcBef>
              <a:spcAft>
                <a:spcPts val="0"/>
              </a:spcAft>
              <a:buClr>
                <a:schemeClr val="dk1"/>
              </a:buClr>
              <a:buSzPts val="800"/>
              <a:buNone/>
              <a:defRPr sz="800"/>
            </a:lvl5pPr>
            <a:lvl6pPr marL="2743200" lvl="5" indent="-228600" algn="l">
              <a:lnSpc>
                <a:spcPct val="90000"/>
              </a:lnSpc>
              <a:spcBef>
                <a:spcPts val="400"/>
              </a:spcBef>
              <a:spcAft>
                <a:spcPts val="0"/>
              </a:spcAft>
              <a:buClr>
                <a:schemeClr val="dk1"/>
              </a:buClr>
              <a:buSzPts val="800"/>
              <a:buNone/>
              <a:defRPr sz="800"/>
            </a:lvl6pPr>
            <a:lvl7pPr marL="3200400" lvl="6" indent="-228600" algn="l">
              <a:lnSpc>
                <a:spcPct val="90000"/>
              </a:lnSpc>
              <a:spcBef>
                <a:spcPts val="400"/>
              </a:spcBef>
              <a:spcAft>
                <a:spcPts val="0"/>
              </a:spcAft>
              <a:buClr>
                <a:schemeClr val="dk1"/>
              </a:buClr>
              <a:buSzPts val="800"/>
              <a:buNone/>
              <a:defRPr sz="800"/>
            </a:lvl7pPr>
            <a:lvl8pPr marL="3657600" lvl="7" indent="-228600" algn="l">
              <a:lnSpc>
                <a:spcPct val="90000"/>
              </a:lnSpc>
              <a:spcBef>
                <a:spcPts val="400"/>
              </a:spcBef>
              <a:spcAft>
                <a:spcPts val="0"/>
              </a:spcAft>
              <a:buClr>
                <a:schemeClr val="dk1"/>
              </a:buClr>
              <a:buSzPts val="800"/>
              <a:buNone/>
              <a:defRPr sz="800"/>
            </a:lvl8pPr>
            <a:lvl9pPr marL="4114800" lvl="8" indent="-228600" algn="l">
              <a:lnSpc>
                <a:spcPct val="90000"/>
              </a:lnSpc>
              <a:spcBef>
                <a:spcPts val="400"/>
              </a:spcBef>
              <a:spcAft>
                <a:spcPts val="0"/>
              </a:spcAft>
              <a:buClr>
                <a:schemeClr val="dk1"/>
              </a:buClr>
              <a:buSzPts val="800"/>
              <a:buNone/>
              <a:defRPr sz="800"/>
            </a:lvl9pPr>
          </a:lstStyle>
          <a:p/>
        </p:txBody>
      </p:sp>
      <p:sp>
        <p:nvSpPr>
          <p:cNvPr id="65" name="Shape 2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6" name="Shape 2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67" name="Shape 2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matchingName="标题和竖排文字">
  <p:cSld name="VERTICAL_TEXT">
    <p:spTree>
      <p:nvGrpSpPr>
        <p:cNvPr id="68" name="Shape 68"/>
        <p:cNvGrpSpPr/>
        <p:nvPr/>
      </p:nvGrpSpPr>
      <p:grpSpPr>
        <a:xfrm>
          <a:off x="0" y="0"/>
          <a:ext cx="0" cy="0"/>
          <a:chOff x="0" y="0"/>
          <a:chExt cx="0" cy="0"/>
        </a:xfrm>
      </p:grpSpPr>
      <p:sp>
        <p:nvSpPr>
          <p:cNvPr id="69" name="Shape 49"/>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Shape 50"/>
          <p:cNvSpPr txBox="1"/>
          <p:nvPr>
            <p:ph type="body" idx="1"/>
          </p:nvPr>
        </p:nvSpPr>
        <p:spPr>
          <a:xfrm rot="5400000">
            <a:off x="2940248" y="-942379"/>
            <a:ext cx="3263504" cy="78867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1" name="Shape 51"/>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2" name="Shape 52"/>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3" name="Shape 53"/>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matchingName="竖排标题与文本">
  <p:cSld name="VERTICAL_TITLE_AND_VERTICAL_TEXT">
    <p:spTree>
      <p:nvGrpSpPr>
        <p:cNvPr id="74" name="Shape 74"/>
        <p:cNvGrpSpPr/>
        <p:nvPr/>
      </p:nvGrpSpPr>
      <p:grpSpPr>
        <a:xfrm>
          <a:off x="0" y="0"/>
          <a:ext cx="0" cy="0"/>
          <a:chOff x="0" y="0"/>
          <a:chExt cx="0" cy="0"/>
        </a:xfrm>
      </p:grpSpPr>
      <p:sp>
        <p:nvSpPr>
          <p:cNvPr id="75" name="Shape 15"/>
          <p:cNvSpPr txBox="1"/>
          <p:nvPr>
            <p:ph type="title"/>
          </p:nvPr>
        </p:nvSpPr>
        <p:spPr>
          <a:xfrm rot="5400000">
            <a:off x="5350073" y="1467445"/>
            <a:ext cx="4358879" cy="1971675"/>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6" name="Shape 16"/>
          <p:cNvSpPr txBox="1"/>
          <p:nvPr>
            <p:ph type="body" idx="1"/>
          </p:nvPr>
        </p:nvSpPr>
        <p:spPr>
          <a:xfrm rot="5400000">
            <a:off x="1349573" y="-447080"/>
            <a:ext cx="4358879" cy="5800725"/>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400"/>
              </a:spcBef>
              <a:spcAft>
                <a:spcPts val="0"/>
              </a:spcAft>
              <a:buClr>
                <a:schemeClr val="dk1"/>
              </a:buClr>
              <a:buSzPts val="1400"/>
              <a:buChar char="•"/>
              <a:defRPr/>
            </a:lvl2pPr>
            <a:lvl3pPr marL="1371600" lvl="2" indent="-317500" algn="l">
              <a:lnSpc>
                <a:spcPct val="90000"/>
              </a:lnSpc>
              <a:spcBef>
                <a:spcPts val="400"/>
              </a:spcBef>
              <a:spcAft>
                <a:spcPts val="0"/>
              </a:spcAft>
              <a:buClr>
                <a:schemeClr val="dk1"/>
              </a:buClr>
              <a:buSzPts val="1400"/>
              <a:buChar char="•"/>
              <a:defRPr/>
            </a:lvl3pPr>
            <a:lvl4pPr marL="1828800" lvl="3" indent="-317500" algn="l">
              <a:lnSpc>
                <a:spcPct val="90000"/>
              </a:lnSpc>
              <a:spcBef>
                <a:spcPts val="400"/>
              </a:spcBef>
              <a:spcAft>
                <a:spcPts val="0"/>
              </a:spcAft>
              <a:buClr>
                <a:schemeClr val="dk1"/>
              </a:buClr>
              <a:buSzPts val="1400"/>
              <a:buChar char="•"/>
              <a:defRPr/>
            </a:lvl4pPr>
            <a:lvl5pPr marL="2286000" lvl="4" indent="-317500" algn="l">
              <a:lnSpc>
                <a:spcPct val="90000"/>
              </a:lnSpc>
              <a:spcBef>
                <a:spcPts val="400"/>
              </a:spcBef>
              <a:spcAft>
                <a:spcPts val="0"/>
              </a:spcAft>
              <a:buClr>
                <a:schemeClr val="dk1"/>
              </a:buClr>
              <a:buSzPts val="1400"/>
              <a:buChar char="•"/>
              <a:defRPr/>
            </a:lvl5pPr>
            <a:lvl6pPr marL="2743200" lvl="5" indent="-317500" algn="l">
              <a:lnSpc>
                <a:spcPct val="90000"/>
              </a:lnSpc>
              <a:spcBef>
                <a:spcPts val="400"/>
              </a:spcBef>
              <a:spcAft>
                <a:spcPts val="0"/>
              </a:spcAft>
              <a:buClr>
                <a:schemeClr val="dk1"/>
              </a:buClr>
              <a:buSzPts val="1400"/>
              <a:buChar char="•"/>
              <a:defRPr/>
            </a:lvl6pPr>
            <a:lvl7pPr marL="3200400" lvl="6" indent="-317500" algn="l">
              <a:lnSpc>
                <a:spcPct val="90000"/>
              </a:lnSpc>
              <a:spcBef>
                <a:spcPts val="400"/>
              </a:spcBef>
              <a:spcAft>
                <a:spcPts val="0"/>
              </a:spcAft>
              <a:buClr>
                <a:schemeClr val="dk1"/>
              </a:buClr>
              <a:buSzPts val="1400"/>
              <a:buChar char="•"/>
              <a:defRPr/>
            </a:lvl7pPr>
            <a:lvl8pPr marL="3657600" lvl="7" indent="-317500" algn="l">
              <a:lnSpc>
                <a:spcPct val="90000"/>
              </a:lnSpc>
              <a:spcBef>
                <a:spcPts val="400"/>
              </a:spcBef>
              <a:spcAft>
                <a:spcPts val="0"/>
              </a:spcAft>
              <a:buClr>
                <a:schemeClr val="dk1"/>
              </a:buClr>
              <a:buSzPts val="1400"/>
              <a:buChar char="•"/>
              <a:defRPr/>
            </a:lvl8pPr>
            <a:lvl9pPr marL="4114800" lvl="8" indent="-317500" algn="l">
              <a:lnSpc>
                <a:spcPct val="90000"/>
              </a:lnSpc>
              <a:spcBef>
                <a:spcPts val="400"/>
              </a:spcBef>
              <a:spcAft>
                <a:spcPts val="0"/>
              </a:spcAft>
              <a:buClr>
                <a:schemeClr val="dk1"/>
              </a:buClr>
              <a:buSzPts val="1400"/>
              <a:buChar char="•"/>
              <a:defRPr/>
            </a:lvl9pPr>
          </a:lstStyle>
          <a:p/>
        </p:txBody>
      </p:sp>
      <p:sp>
        <p:nvSpPr>
          <p:cNvPr id="77" name="Shape 17"/>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lvl="0" algn="l">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8" name="Shape 18"/>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lvl="0" algn="ctr">
              <a:spcBef>
                <a:spcPts val="0"/>
              </a:spcBef>
              <a:spcAft>
                <a:spcPts val="0"/>
              </a:spcAft>
              <a:buSzPts val="1100"/>
              <a:buNone/>
              <a:defRPr/>
            </a:lvl1pPr>
            <a:lvl2pPr lvl="1" algn="l">
              <a:spcBef>
                <a:spcPts val="0"/>
              </a:spcBef>
              <a:spcAft>
                <a:spcPts val="0"/>
              </a:spcAft>
              <a:buSzPts val="1100"/>
              <a:buNone/>
              <a:defRPr/>
            </a:lvl2pPr>
            <a:lvl3pPr lvl="2" algn="l">
              <a:spcBef>
                <a:spcPts val="0"/>
              </a:spcBef>
              <a:spcAft>
                <a:spcPts val="0"/>
              </a:spcAft>
              <a:buSzPts val="1100"/>
              <a:buNone/>
              <a:defRPr/>
            </a:lvl3pPr>
            <a:lvl4pPr lvl="3" algn="l">
              <a:spcBef>
                <a:spcPts val="0"/>
              </a:spcBef>
              <a:spcAft>
                <a:spcPts val="0"/>
              </a:spcAft>
              <a:buSzPts val="1100"/>
              <a:buNone/>
              <a:defRPr/>
            </a:lvl4pPr>
            <a:lvl5pPr lvl="4" algn="l">
              <a:spcBef>
                <a:spcPts val="0"/>
              </a:spcBef>
              <a:spcAft>
                <a:spcPts val="0"/>
              </a:spcAft>
              <a:buSzPts val="1100"/>
              <a:buNone/>
              <a:defRPr/>
            </a:lvl5pPr>
            <a:lvl6pPr lvl="5" algn="l">
              <a:spcBef>
                <a:spcPts val="0"/>
              </a:spcBef>
              <a:spcAft>
                <a:spcPts val="0"/>
              </a:spcAft>
              <a:buSzPts val="1100"/>
              <a:buNone/>
              <a:defRPr/>
            </a:lvl6pPr>
            <a:lvl7pPr lvl="6" algn="l">
              <a:spcBef>
                <a:spcPts val="0"/>
              </a:spcBef>
              <a:spcAft>
                <a:spcPts val="0"/>
              </a:spcAft>
              <a:buSzPts val="1100"/>
              <a:buNone/>
              <a:defRPr/>
            </a:lvl7pPr>
            <a:lvl8pPr lvl="7" algn="l">
              <a:spcBef>
                <a:spcPts val="0"/>
              </a:spcBef>
              <a:spcAft>
                <a:spcPts val="0"/>
              </a:spcAft>
              <a:buSzPts val="1100"/>
              <a:buNone/>
              <a:defRPr/>
            </a:lvl8pPr>
            <a:lvl9pPr lvl="8" algn="l">
              <a:spcBef>
                <a:spcPts val="0"/>
              </a:spcBef>
              <a:spcAft>
                <a:spcPts val="0"/>
              </a:spcAft>
              <a:buSzPts val="1100"/>
              <a:buNone/>
              <a:defRPr/>
            </a:lvl9pPr>
          </a:lstStyle>
          <a:p/>
        </p:txBody>
      </p:sp>
      <p:sp>
        <p:nvSpPr>
          <p:cNvPr id="79" name="Shape 19"/>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zh-CN"/>
            </a:fld>
            <a:endParaRPr lang="zh-CN"/>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5" name="Shape 5"/>
        <p:cNvGrpSpPr/>
        <p:nvPr/>
      </p:nvGrpSpPr>
      <p:grpSpPr>
        <a:xfrm>
          <a:off x="0" y="0"/>
          <a:ext cx="0" cy="0"/>
          <a:chOff x="0" y="0"/>
          <a:chExt cx="0" cy="0"/>
        </a:xfrm>
      </p:grpSpPr>
      <p:sp>
        <p:nvSpPr>
          <p:cNvPr id="6" name="Shape 1"/>
          <p:cNvSpPr txBox="1"/>
          <p:nvPr>
            <p:ph type="title"/>
          </p:nvPr>
        </p:nvSpPr>
        <p:spPr>
          <a:xfrm>
            <a:off x="628650" y="273844"/>
            <a:ext cx="7886700" cy="994172"/>
          </a:xfrm>
          <a:prstGeom prst="rect">
            <a:avLst/>
          </a:prstGeom>
          <a:noFill/>
          <a:ln>
            <a:noFill/>
          </a:ln>
        </p:spPr>
        <p:txBody>
          <a:bodyPr spcFirstLastPara="1" wrap="square" lIns="68575" tIns="34275" rIns="68575" bIns="34275" anchor="ctr" anchorCtr="0">
            <a:normAutofit/>
          </a:bodyPr>
          <a:lstStyle>
            <a:lvl1pPr marR="0" lvl="0" algn="l" rtl="0">
              <a:lnSpc>
                <a:spcPct val="90000"/>
              </a:lnSpc>
              <a:spcBef>
                <a:spcPts val="0"/>
              </a:spcBef>
              <a:spcAft>
                <a:spcPts val="0"/>
              </a:spcAft>
              <a:buClr>
                <a:schemeClr val="dk1"/>
              </a:buClr>
              <a:buSzPts val="3300"/>
              <a:buFont typeface="Arial" panose="020B0604020202020204"/>
              <a:buNone/>
              <a:defRPr sz="33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7" name="Shape 2"/>
          <p:cNvSpPr txBox="1"/>
          <p:nvPr>
            <p:ph type="body" idx="1"/>
          </p:nvPr>
        </p:nvSpPr>
        <p:spPr>
          <a:xfrm>
            <a:off x="628650" y="1369219"/>
            <a:ext cx="7886700" cy="3263504"/>
          </a:xfrm>
          <a:prstGeom prst="rect">
            <a:avLst/>
          </a:prstGeom>
          <a:noFill/>
          <a:ln>
            <a:noFill/>
          </a:ln>
        </p:spPr>
        <p:txBody>
          <a:bodyPr spcFirstLastPara="1" wrap="square" lIns="68575" tIns="34275" rIns="68575" bIns="34275" anchor="t" anchorCtr="0">
            <a:normAutofit/>
          </a:bodyPr>
          <a:lstStyle>
            <a:lvl1pPr marL="457200" marR="0" lvl="0" indent="-361950" algn="l" rtl="0">
              <a:lnSpc>
                <a:spcPct val="90000"/>
              </a:lnSpc>
              <a:spcBef>
                <a:spcPts val="800"/>
              </a:spcBef>
              <a:spcAft>
                <a:spcPts val="0"/>
              </a:spcAft>
              <a:buClr>
                <a:schemeClr val="dk1"/>
              </a:buClr>
              <a:buSzPts val="2100"/>
              <a:buFont typeface="Arial" panose="020B0604020202020204"/>
              <a:buChar char="•"/>
              <a:defRPr sz="2100" b="0" i="0" u="none" strike="noStrike" cap="none">
                <a:solidFill>
                  <a:schemeClr val="dk1"/>
                </a:solidFill>
                <a:latin typeface="Arial" panose="020B0604020202020204"/>
                <a:ea typeface="Arial" panose="020B0604020202020204"/>
                <a:cs typeface="Arial" panose="020B0604020202020204"/>
                <a:sym typeface="Arial" panose="020B0604020202020204"/>
              </a:defRPr>
            </a:lvl1pPr>
            <a:lvl2pPr marL="914400" marR="0" lvl="1" indent="-342900" algn="l" rtl="0">
              <a:lnSpc>
                <a:spcPct val="90000"/>
              </a:lnSpc>
              <a:spcBef>
                <a:spcPts val="400"/>
              </a:spcBef>
              <a:spcAft>
                <a:spcPts val="0"/>
              </a:spcAft>
              <a:buClr>
                <a:schemeClr val="dk1"/>
              </a:buClr>
              <a:buSzPts val="1800"/>
              <a:buFont typeface="Arial" panose="020B0604020202020204"/>
              <a:buChar char="•"/>
              <a:defRPr sz="18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L="1371600" marR="0" lvl="2" indent="-323850" algn="l" rtl="0">
              <a:lnSpc>
                <a:spcPct val="90000"/>
              </a:lnSpc>
              <a:spcBef>
                <a:spcPts val="400"/>
              </a:spcBef>
              <a:spcAft>
                <a:spcPts val="0"/>
              </a:spcAft>
              <a:buClr>
                <a:schemeClr val="dk1"/>
              </a:buClr>
              <a:buSzPts val="1500"/>
              <a:buFont typeface="Arial" panose="020B0604020202020204"/>
              <a:buChar char="•"/>
              <a:defRPr sz="15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L="1828800" marR="0" lvl="3"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L="2286000" marR="0" lvl="4"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L="2743200" marR="0" lvl="5"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L="3200400" marR="0" lvl="6"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L="3657600" marR="0" lvl="7"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L="4114800" marR="0" lvl="8" indent="-317500" algn="l" rtl="0">
              <a:lnSpc>
                <a:spcPct val="90000"/>
              </a:lnSpc>
              <a:spcBef>
                <a:spcPts val="400"/>
              </a:spcBef>
              <a:spcAft>
                <a:spcPts val="0"/>
              </a:spcAft>
              <a:buClr>
                <a:schemeClr val="dk1"/>
              </a:buClr>
              <a:buSzPts val="1400"/>
              <a:buFont typeface="Arial" panose="020B0604020202020204"/>
              <a:buChar char="•"/>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8" name="Shape 3"/>
          <p:cNvSpPr txBox="1"/>
          <p:nvPr>
            <p:ph type="dt" idx="10"/>
          </p:nvPr>
        </p:nvSpPr>
        <p:spPr>
          <a:xfrm>
            <a:off x="628650" y="4767263"/>
            <a:ext cx="2057400" cy="273844"/>
          </a:xfrm>
          <a:prstGeom prst="rect">
            <a:avLst/>
          </a:prstGeom>
          <a:noFill/>
          <a:ln>
            <a:noFill/>
          </a:ln>
        </p:spPr>
        <p:txBody>
          <a:bodyPr spcFirstLastPara="1" wrap="square" lIns="68575" tIns="34275" rIns="68575" bIns="34275" anchor="ctr" anchorCtr="0">
            <a:noAutofit/>
          </a:bodyPr>
          <a:lstStyle>
            <a:lvl1pPr marR="0" lvl="0" algn="l"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9" name="Shape 4"/>
          <p:cNvSpPr txBox="1"/>
          <p:nvPr>
            <p:ph type="ftr" idx="11"/>
          </p:nvPr>
        </p:nvSpPr>
        <p:spPr>
          <a:xfrm>
            <a:off x="3028950" y="4767263"/>
            <a:ext cx="3086100" cy="273844"/>
          </a:xfrm>
          <a:prstGeom prst="rect">
            <a:avLst/>
          </a:prstGeom>
          <a:noFill/>
          <a:ln>
            <a:noFill/>
          </a:ln>
        </p:spPr>
        <p:txBody>
          <a:bodyPr spcFirstLastPara="1" wrap="square" lIns="68575" tIns="34275" rIns="68575" bIns="34275" anchor="ctr" anchorCtr="0">
            <a:noAutofit/>
          </a:bodyPr>
          <a:lstStyle>
            <a:lvl1pPr marR="0" lvl="0" algn="ctr" rtl="0">
              <a:spcBef>
                <a:spcPts val="0"/>
              </a:spcBef>
              <a:spcAft>
                <a:spcPts val="0"/>
              </a:spcAft>
              <a:buSzPts val="1100"/>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R="0" lvl="1"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2pPr>
            <a:lvl3pPr marR="0" lvl="2"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3pPr>
            <a:lvl4pPr marR="0" lvl="3"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4pPr>
            <a:lvl5pPr marR="0" lvl="4"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5pPr>
            <a:lvl6pPr marR="0" lvl="5"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6pPr>
            <a:lvl7pPr marR="0" lvl="6"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7pPr>
            <a:lvl8pPr marR="0" lvl="7"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8pPr>
            <a:lvl9pPr marR="0" lvl="8" algn="l" rtl="0">
              <a:spcBef>
                <a:spcPts val="0"/>
              </a:spcBef>
              <a:spcAft>
                <a:spcPts val="0"/>
              </a:spcAft>
              <a:buSzPts val="1100"/>
              <a:buNone/>
              <a:defRPr sz="1400" b="0" i="0" u="none" strike="noStrike" cap="none">
                <a:solidFill>
                  <a:schemeClr val="dk1"/>
                </a:solidFill>
                <a:latin typeface="Arial" panose="020B0604020202020204"/>
                <a:ea typeface="Arial" panose="020B0604020202020204"/>
                <a:cs typeface="Arial" panose="020B0604020202020204"/>
                <a:sym typeface="Arial" panose="020B0604020202020204"/>
              </a:defRPr>
            </a:lvl9pPr>
          </a:lstStyle>
          <a:p/>
        </p:txBody>
      </p:sp>
      <p:sp>
        <p:nvSpPr>
          <p:cNvPr id="10" name="Shape 5"/>
          <p:cNvSpPr txBox="1"/>
          <p:nvPr>
            <p:ph type="sldNum" idx="12"/>
          </p:nvPr>
        </p:nvSpPr>
        <p:spPr>
          <a:xfrm>
            <a:off x="6457950" y="4767263"/>
            <a:ext cx="2057400" cy="273844"/>
          </a:xfrm>
          <a:prstGeom prst="rect">
            <a:avLst/>
          </a:prstGeom>
          <a:noFill/>
          <a:ln>
            <a:noFill/>
          </a:ln>
        </p:spPr>
        <p:txBody>
          <a:bodyPr spcFirstLastPara="1" wrap="square" lIns="68575" tIns="34275" rIns="68575" bIns="34275" anchor="ctr" anchorCtr="0">
            <a:noAutofit/>
          </a:bodyPr>
          <a:lstStyle>
            <a:lvl1pPr marL="0" marR="0" lvl="0"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1pPr>
            <a:lvl2pPr marL="0" marR="0" lvl="1"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2pPr>
            <a:lvl3pPr marL="0" marR="0" lvl="2"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3pPr>
            <a:lvl4pPr marL="0" marR="0" lvl="3"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4pPr>
            <a:lvl5pPr marL="0" marR="0" lvl="4"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5pPr>
            <a:lvl6pPr marL="0" marR="0" lvl="5"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6pPr>
            <a:lvl7pPr marL="0" marR="0" lvl="6"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7pPr>
            <a:lvl8pPr marL="0" marR="0" lvl="7"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8pPr>
            <a:lvl9pPr marL="0" marR="0" lvl="8" indent="0" algn="r" rtl="0">
              <a:spcBef>
                <a:spcPts val="0"/>
              </a:spcBef>
              <a:buNone/>
              <a:defRPr sz="900" b="0" i="0" u="none" strike="noStrike" cap="none">
                <a:solidFill>
                  <a:srgbClr val="888888"/>
                </a:solidFill>
                <a:latin typeface="Arial" panose="020B0604020202020204"/>
                <a:ea typeface="Arial" panose="020B0604020202020204"/>
                <a:cs typeface="Arial" panose="020B0604020202020204"/>
                <a:sym typeface="Arial" panose="020B0604020202020204"/>
              </a:defRPr>
            </a:lvl9pPr>
          </a:lstStyle>
          <a:p>
            <a:pPr marL="0" lvl="0" indent="0" algn="r" rtl="0">
              <a:spcBef>
                <a:spcPts val="0"/>
              </a:spcBef>
              <a:spcAft>
                <a:spcPts val="0"/>
              </a:spcAft>
              <a:buNone/>
            </a:pPr>
            <a:fld id="{00000000-1234-1234-1234-123412341234}" type="slidenum">
              <a:rPr lang="zh-CN"/>
            </a:fld>
            <a:endParaRPr lang="zh-CN"/>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FFF">
            <a:alpha val="100000"/>
          </a:srgbClr>
        </a:solidFill>
        <a:effectLst/>
      </p:bgPr>
    </p:bg>
    <p:spTree>
      <p:nvGrpSpPr>
        <p:cNvPr id="5" name="Shape 5"/>
        <p:cNvGrpSpPr/>
        <p:nvPr/>
      </p:nvGrpSpPr>
      <p:grpSpPr>
        <a:xfrm>
          <a:off x="0" y="0"/>
          <a:ext cx="0" cy="0"/>
          <a:chOff x="0" y="0"/>
          <a:chExt cx="0" cy="0"/>
        </a:xfrm>
      </p:grpSpPr>
    </p:spTree>
  </p:cSld>
  <p:clrMap bg1="lt1" tx1="dk1" bg2="dk2" tx2="lt2" accent1="accent1" accent2="accent2" accent3="accent3" accent4="accent4" accent5="accent5" accent6="accent6" hlink="hlink" folHlink="folHlink"/>
  <p:sldLayoutIdLst>
    <p:sldLayoutId id="2147483661" r:id="rId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1pPr>
      <a:lvl2pPr marR="0" lvl="1"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2pPr>
      <a:lvl3pPr marR="0" lvl="2"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3pPr>
      <a:lvl4pPr marR="0" lvl="3"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4pPr>
      <a:lvl5pPr marR="0" lvl="4"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5pPr>
      <a:lvl6pPr marR="0" lvl="5"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6pPr>
      <a:lvl7pPr marR="0" lvl="6"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7pPr>
      <a:lvl8pPr marR="0" lvl="7"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8pPr>
      <a:lvl9pPr marR="0" lvl="8" algn="l" rtl="0">
        <a:lnSpc>
          <a:spcPct val="100000"/>
        </a:lnSpc>
        <a:spcBef>
          <a:spcPts val="0"/>
        </a:spcBef>
        <a:spcAft>
          <a:spcPts val="0"/>
        </a:spcAft>
        <a:buClr>
          <a:srgbClr val="000000"/>
        </a:buClr>
        <a:buFont typeface="Arial" panose="020B0604020202020204"/>
        <a:defRPr sz="1400" b="0" i="0" u="none" strike="noStrike" cap="none">
          <a:solidFill>
            <a:srgbClr val="000000"/>
          </a:solidFill>
          <a:latin typeface="Arial" panose="020B0604020202020204"/>
          <a:ea typeface="Arial" panose="020B0604020202020204"/>
          <a:cs typeface="Arial" panose="020B0604020202020204"/>
          <a:sym typeface="Arial" panose="020B0604020202020204"/>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notesSlide" Target="../notesSlides/notesSlide1.xml"/><Relationship Id="rId2" Type="http://schemas.openxmlformats.org/officeDocument/2006/relationships/slideLayout" Target="../slideLayouts/slideLayout12.xml"/><Relationship Id="rId1"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3.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9.svg"/><Relationship Id="rId7" Type="http://schemas.openxmlformats.org/officeDocument/2006/relationships/image" Target="../media/image8.png"/><Relationship Id="rId6" Type="http://schemas.openxmlformats.org/officeDocument/2006/relationships/image" Target="../media/image7.svg"/><Relationship Id="rId5" Type="http://schemas.openxmlformats.org/officeDocument/2006/relationships/image" Target="../media/image6.png"/><Relationship Id="rId4" Type="http://schemas.openxmlformats.org/officeDocument/2006/relationships/image" Target="../media/image5.svg"/><Relationship Id="rId3" Type="http://schemas.openxmlformats.org/officeDocument/2006/relationships/image" Target="../media/image4.png"/><Relationship Id="rId2" Type="http://schemas.openxmlformats.org/officeDocument/2006/relationships/image" Target="../media/image3.jpeg"/><Relationship Id="rId10" Type="http://schemas.openxmlformats.org/officeDocument/2006/relationships/notesSlide" Target="../notesSlides/notesSlide3.xml"/><Relationship Id="rId1" Type="http://schemas.openxmlformats.org/officeDocument/2006/relationships/image" Target="../media/image2.jpeg"/></Relationships>
</file>

<file path=ppt/slides/_rels/slide4.xml.rels><?xml version="1.0" encoding="UTF-8" standalone="yes"?>
<Relationships xmlns="http://schemas.openxmlformats.org/package/2006/relationships"><Relationship Id="rId9" Type="http://schemas.openxmlformats.org/officeDocument/2006/relationships/notesSlide" Target="../notesSlides/notesSlide4.xml"/><Relationship Id="rId8" Type="http://schemas.openxmlformats.org/officeDocument/2006/relationships/slideLayout" Target="../slideLayouts/slideLayout12.xml"/><Relationship Id="rId7" Type="http://schemas.openxmlformats.org/officeDocument/2006/relationships/image" Target="../media/image15.svg"/><Relationship Id="rId6" Type="http://schemas.openxmlformats.org/officeDocument/2006/relationships/image" Target="../media/image14.png"/><Relationship Id="rId5" Type="http://schemas.openxmlformats.org/officeDocument/2006/relationships/image" Target="../media/image13.svg"/><Relationship Id="rId4" Type="http://schemas.openxmlformats.org/officeDocument/2006/relationships/image" Target="../media/image12.png"/><Relationship Id="rId3" Type="http://schemas.openxmlformats.org/officeDocument/2006/relationships/image" Target="../media/image11.svg"/><Relationship Id="rId2" Type="http://schemas.openxmlformats.org/officeDocument/2006/relationships/image" Target="../media/image10.png"/><Relationship Id="rId1" Type="http://schemas.openxmlformats.org/officeDocument/2006/relationships/image" Target="../media/image2.jpeg"/></Relationships>
</file>

<file path=ppt/slides/_rels/slide5.xml.rels><?xml version="1.0" encoding="UTF-8" standalone="yes"?>
<Relationships xmlns="http://schemas.openxmlformats.org/package/2006/relationships"><Relationship Id="rId9" Type="http://schemas.openxmlformats.org/officeDocument/2006/relationships/image" Target="../media/image21.png"/><Relationship Id="rId8" Type="http://schemas.openxmlformats.org/officeDocument/2006/relationships/image" Target="../media/image20.svg"/><Relationship Id="rId7" Type="http://schemas.openxmlformats.org/officeDocument/2006/relationships/image" Target="../media/image19.png"/><Relationship Id="rId6" Type="http://schemas.openxmlformats.org/officeDocument/2006/relationships/image" Target="../media/image5.svg"/><Relationship Id="rId5" Type="http://schemas.openxmlformats.org/officeDocument/2006/relationships/image" Target="../media/image4.png"/><Relationship Id="rId4" Type="http://schemas.openxmlformats.org/officeDocument/2006/relationships/image" Target="../media/image18.svg"/><Relationship Id="rId3" Type="http://schemas.openxmlformats.org/officeDocument/2006/relationships/image" Target="../media/image17.png"/><Relationship Id="rId2" Type="http://schemas.openxmlformats.org/officeDocument/2006/relationships/image" Target="../media/image16.jpeg"/><Relationship Id="rId12" Type="http://schemas.openxmlformats.org/officeDocument/2006/relationships/notesSlide" Target="../notesSlides/notesSlide5.xml"/><Relationship Id="rId11" Type="http://schemas.openxmlformats.org/officeDocument/2006/relationships/slideLayout" Target="../slideLayouts/slideLayout12.xml"/><Relationship Id="rId10" Type="http://schemas.openxmlformats.org/officeDocument/2006/relationships/image" Target="../media/image22.svg"/><Relationship Id="rId1" Type="http://schemas.openxmlformats.org/officeDocument/2006/relationships/image" Target="../media/image2.jpeg"/></Relationships>
</file>

<file path=ppt/slides/_rels/slide6.xml.rels><?xml version="1.0" encoding="UTF-8" standalone="yes"?>
<Relationships xmlns="http://schemas.openxmlformats.org/package/2006/relationships"><Relationship Id="rId4" Type="http://schemas.openxmlformats.org/officeDocument/2006/relationships/notesSlide" Target="../notesSlides/notesSlide6.xml"/><Relationship Id="rId3" Type="http://schemas.openxmlformats.org/officeDocument/2006/relationships/slideLayout" Target="../slideLayouts/slideLayout12.xml"/><Relationship Id="rId2" Type="http://schemas.openxmlformats.org/officeDocument/2006/relationships/image" Target="../media/image23.jpeg"/><Relationship Id="rId1" Type="http://schemas.openxmlformats.org/officeDocument/2006/relationships/image" Target="../media/image2.jpeg"/></Relationships>
</file>

<file path=ppt/slides/_rels/slide7.xml.rels><?xml version="1.0" encoding="UTF-8" standalone="yes"?>
<Relationships xmlns="http://schemas.openxmlformats.org/package/2006/relationships"><Relationship Id="rId9" Type="http://schemas.openxmlformats.org/officeDocument/2006/relationships/slideLayout" Target="../slideLayouts/slideLayout12.xml"/><Relationship Id="rId8" Type="http://schemas.openxmlformats.org/officeDocument/2006/relationships/image" Target="../media/image30.svg"/><Relationship Id="rId7" Type="http://schemas.openxmlformats.org/officeDocument/2006/relationships/image" Target="../media/image29.png"/><Relationship Id="rId6" Type="http://schemas.openxmlformats.org/officeDocument/2006/relationships/image" Target="../media/image28.svg"/><Relationship Id="rId5" Type="http://schemas.openxmlformats.org/officeDocument/2006/relationships/image" Target="../media/image27.png"/><Relationship Id="rId4" Type="http://schemas.openxmlformats.org/officeDocument/2006/relationships/image" Target="../media/image26.svg"/><Relationship Id="rId3" Type="http://schemas.openxmlformats.org/officeDocument/2006/relationships/image" Target="../media/image25.png"/><Relationship Id="rId2" Type="http://schemas.openxmlformats.org/officeDocument/2006/relationships/image" Target="../media/image24.jpeg"/><Relationship Id="rId10" Type="http://schemas.openxmlformats.org/officeDocument/2006/relationships/notesSlide" Target="../notesSlides/notesSlide7.xml"/><Relationship Id="rId1" Type="http://schemas.openxmlformats.org/officeDocument/2006/relationships/image" Target="../media/image2.jpeg"/></Relationships>
</file>

<file path=ppt/slides/_rels/slide8.xml.rels><?xml version="1.0" encoding="UTF-8" standalone="yes"?>
<Relationships xmlns="http://schemas.openxmlformats.org/package/2006/relationships"><Relationship Id="rId9" Type="http://schemas.openxmlformats.org/officeDocument/2006/relationships/image" Target="../media/image38.svg"/><Relationship Id="rId8" Type="http://schemas.openxmlformats.org/officeDocument/2006/relationships/image" Target="../media/image37.png"/><Relationship Id="rId7" Type="http://schemas.openxmlformats.org/officeDocument/2006/relationships/image" Target="../media/image36.svg"/><Relationship Id="rId6" Type="http://schemas.openxmlformats.org/officeDocument/2006/relationships/image" Target="../media/image35.png"/><Relationship Id="rId5" Type="http://schemas.openxmlformats.org/officeDocument/2006/relationships/image" Target="../media/image34.svg"/><Relationship Id="rId4" Type="http://schemas.openxmlformats.org/officeDocument/2006/relationships/image" Target="../media/image33.png"/><Relationship Id="rId3" Type="http://schemas.openxmlformats.org/officeDocument/2006/relationships/image" Target="../media/image32.svg"/><Relationship Id="rId2" Type="http://schemas.openxmlformats.org/officeDocument/2006/relationships/image" Target="../media/image31.png"/><Relationship Id="rId14" Type="http://schemas.openxmlformats.org/officeDocument/2006/relationships/notesSlide" Target="../notesSlides/notesSlide8.xml"/><Relationship Id="rId13" Type="http://schemas.openxmlformats.org/officeDocument/2006/relationships/slideLayout" Target="../slideLayouts/slideLayout12.xml"/><Relationship Id="rId12" Type="http://schemas.openxmlformats.org/officeDocument/2006/relationships/image" Target="../media/image41.svg"/><Relationship Id="rId11" Type="http://schemas.openxmlformats.org/officeDocument/2006/relationships/image" Target="../media/image40.png"/><Relationship Id="rId10" Type="http://schemas.openxmlformats.org/officeDocument/2006/relationships/image" Target="../media/image39.jpeg"/><Relationship Id="rId1" Type="http://schemas.openxmlformats.org/officeDocument/2006/relationships/image" Target="../media/image2.jpeg"/></Relationships>
</file>

<file path=ppt/slides/_rels/slide9.xml.rels><?xml version="1.0" encoding="UTF-8" standalone="yes"?>
<Relationships xmlns="http://schemas.openxmlformats.org/package/2006/relationships"><Relationship Id="rId8" Type="http://schemas.openxmlformats.org/officeDocument/2006/relationships/notesSlide" Target="../notesSlides/notesSlide9.xml"/><Relationship Id="rId7" Type="http://schemas.openxmlformats.org/officeDocument/2006/relationships/slideLayout" Target="../slideLayouts/slideLayout12.xml"/><Relationship Id="rId6" Type="http://schemas.openxmlformats.org/officeDocument/2006/relationships/image" Target="../media/image44.svg"/><Relationship Id="rId5" Type="http://schemas.openxmlformats.org/officeDocument/2006/relationships/image" Target="../media/image43.png"/><Relationship Id="rId4" Type="http://schemas.openxmlformats.org/officeDocument/2006/relationships/image" Target="../media/image15.svg"/><Relationship Id="rId3" Type="http://schemas.openxmlformats.org/officeDocument/2006/relationships/image" Target="../media/image14.png"/><Relationship Id="rId2" Type="http://schemas.openxmlformats.org/officeDocument/2006/relationships/image" Target="../media/image42.jpeg"/><Relationship Id="rId1" Type="http://schemas.openxmlformats.org/officeDocument/2006/relationships/image" Target="../media/image2.jpeg"/></Relationships>
</file>

<file path=ppt/slides/_rels/slide10.xml.rels><?xml version="1.0" encoding="UTF-8" standalone="yes"?>
<Relationships xmlns="http://schemas.openxmlformats.org/package/2006/relationships"><Relationship Id="rId9" Type="http://schemas.openxmlformats.org/officeDocument/2006/relationships/image" Target="../media/image50.png"/><Relationship Id="rId8" Type="http://schemas.openxmlformats.org/officeDocument/2006/relationships/image" Target="../media/image34.svg"/><Relationship Id="rId7" Type="http://schemas.openxmlformats.org/officeDocument/2006/relationships/image" Target="../media/image33.png"/><Relationship Id="rId6" Type="http://schemas.openxmlformats.org/officeDocument/2006/relationships/image" Target="../media/image49.svg"/><Relationship Id="rId5" Type="http://schemas.openxmlformats.org/officeDocument/2006/relationships/image" Target="../media/image48.png"/><Relationship Id="rId4" Type="http://schemas.openxmlformats.org/officeDocument/2006/relationships/image" Target="../media/image47.svg"/><Relationship Id="rId3" Type="http://schemas.openxmlformats.org/officeDocument/2006/relationships/image" Target="../media/image46.png"/><Relationship Id="rId2" Type="http://schemas.openxmlformats.org/officeDocument/2006/relationships/image" Target="../media/image45.jpeg"/><Relationship Id="rId14" Type="http://schemas.openxmlformats.org/officeDocument/2006/relationships/notesSlide" Target="../notesSlides/notesSlide10.xml"/><Relationship Id="rId13" Type="http://schemas.openxmlformats.org/officeDocument/2006/relationships/slideLayout" Target="../slideLayouts/slideLayout12.xml"/><Relationship Id="rId12" Type="http://schemas.openxmlformats.org/officeDocument/2006/relationships/image" Target="../media/image53.svg"/><Relationship Id="rId11" Type="http://schemas.openxmlformats.org/officeDocument/2006/relationships/image" Target="../media/image52.png"/><Relationship Id="rId10" Type="http://schemas.openxmlformats.org/officeDocument/2006/relationships/image" Target="../media/image51.svg"/><Relationship Id="rId1" Type="http://schemas.openxmlformats.org/officeDocument/2006/relationships/image" Target="../media/image2.jpeg"/></Relationships>
</file>

<file path=ppt/slides/_rels/slide11.xml.rels><?xml version="1.0" encoding="UTF-8" standalone="yes"?>
<Relationships xmlns="http://schemas.openxmlformats.org/package/2006/relationships"><Relationship Id="rId3" Type="http://schemas.openxmlformats.org/officeDocument/2006/relationships/notesSlide" Target="../notesSlides/notesSlide11.xml"/><Relationship Id="rId2" Type="http://schemas.openxmlformats.org/officeDocument/2006/relationships/slideLayout" Target="../slideLayouts/slideLayout12.xml"/><Relationship Id="rId1" Type="http://schemas.openxmlformats.org/officeDocument/2006/relationships/image" Target="../media/image2.jpeg"/></Relationships>
</file>

<file path=ppt/slides/_rels/slide12.xml.rels><?xml version="1.0" encoding="UTF-8" standalone="yes"?>
<Relationships xmlns="http://schemas.openxmlformats.org/package/2006/relationships"><Relationship Id="rId9" Type="http://schemas.openxmlformats.org/officeDocument/2006/relationships/image" Target="../media/image59.jpeg"/><Relationship Id="rId8" Type="http://schemas.openxmlformats.org/officeDocument/2006/relationships/image" Target="../media/image15.svg"/><Relationship Id="rId7" Type="http://schemas.openxmlformats.org/officeDocument/2006/relationships/image" Target="../media/image14.png"/><Relationship Id="rId6" Type="http://schemas.openxmlformats.org/officeDocument/2006/relationships/image" Target="../media/image58.svg"/><Relationship Id="rId5" Type="http://schemas.openxmlformats.org/officeDocument/2006/relationships/image" Target="../media/image57.png"/><Relationship Id="rId4" Type="http://schemas.openxmlformats.org/officeDocument/2006/relationships/image" Target="../media/image56.svg"/><Relationship Id="rId3" Type="http://schemas.openxmlformats.org/officeDocument/2006/relationships/image" Target="../media/image55.png"/><Relationship Id="rId2" Type="http://schemas.openxmlformats.org/officeDocument/2006/relationships/image" Target="../media/image54.jpeg"/><Relationship Id="rId11" Type="http://schemas.openxmlformats.org/officeDocument/2006/relationships/notesSlide" Target="../notesSlides/notesSlide12.xml"/><Relationship Id="rId10" Type="http://schemas.openxmlformats.org/officeDocument/2006/relationships/slideLayout" Target="../slideLayouts/slideLayout12.xml"/><Relationship Id="rId1" Type="http://schemas.openxmlformats.org/officeDocument/2006/relationships/image" Target="../media/image2.jpeg"/></Relationships>
</file>

<file path=ppt/slides/_rels/slide13.xml.rels><?xml version="1.0" encoding="UTF-8" standalone="yes"?>
<Relationships xmlns="http://schemas.openxmlformats.org/package/2006/relationships"><Relationship Id="rId9" Type="http://schemas.openxmlformats.org/officeDocument/2006/relationships/image" Target="../media/image63.svg"/><Relationship Id="rId8" Type="http://schemas.openxmlformats.org/officeDocument/2006/relationships/image" Target="../media/image62.png"/><Relationship Id="rId7" Type="http://schemas.openxmlformats.org/officeDocument/2006/relationships/image" Target="../media/image61.svg"/><Relationship Id="rId6" Type="http://schemas.openxmlformats.org/officeDocument/2006/relationships/image" Target="../media/image60.png"/><Relationship Id="rId5" Type="http://schemas.openxmlformats.org/officeDocument/2006/relationships/image" Target="../media/image49.svg"/><Relationship Id="rId4" Type="http://schemas.openxmlformats.org/officeDocument/2006/relationships/image" Target="../media/image48.png"/><Relationship Id="rId3" Type="http://schemas.openxmlformats.org/officeDocument/2006/relationships/image" Target="../media/image15.svg"/><Relationship Id="rId2" Type="http://schemas.openxmlformats.org/officeDocument/2006/relationships/image" Target="../media/image14.png"/><Relationship Id="rId17" Type="http://schemas.openxmlformats.org/officeDocument/2006/relationships/notesSlide" Target="../notesSlides/notesSlide13.xml"/><Relationship Id="rId16" Type="http://schemas.openxmlformats.org/officeDocument/2006/relationships/slideLayout" Target="../slideLayouts/slideLayout12.xml"/><Relationship Id="rId15" Type="http://schemas.openxmlformats.org/officeDocument/2006/relationships/image" Target="../media/image69.svg"/><Relationship Id="rId14" Type="http://schemas.openxmlformats.org/officeDocument/2006/relationships/image" Target="../media/image68.png"/><Relationship Id="rId13" Type="http://schemas.openxmlformats.org/officeDocument/2006/relationships/image" Target="../media/image67.svg"/><Relationship Id="rId12" Type="http://schemas.openxmlformats.org/officeDocument/2006/relationships/image" Target="../media/image66.png"/><Relationship Id="rId11" Type="http://schemas.openxmlformats.org/officeDocument/2006/relationships/image" Target="../media/image65.svg"/><Relationship Id="rId10" Type="http://schemas.openxmlformats.org/officeDocument/2006/relationships/image" Target="../media/image64.png"/><Relationship Id="rId1" Type="http://schemas.openxmlformats.org/officeDocument/2006/relationships/image" Target="../media/image2.jpeg"/></Relationships>
</file>

<file path=ppt/slides/_rels/slide14.xml.rels><?xml version="1.0" encoding="UTF-8" standalone="yes"?>
<Relationships xmlns="http://schemas.openxmlformats.org/package/2006/relationships"><Relationship Id="rId7" Type="http://schemas.openxmlformats.org/officeDocument/2006/relationships/notesSlide" Target="../notesSlides/notesSlide14.xml"/><Relationship Id="rId6" Type="http://schemas.openxmlformats.org/officeDocument/2006/relationships/slideLayout" Target="../slideLayouts/slideLayout12.xml"/><Relationship Id="rId5" Type="http://schemas.openxmlformats.org/officeDocument/2006/relationships/image" Target="../media/image73.svg"/><Relationship Id="rId4" Type="http://schemas.openxmlformats.org/officeDocument/2006/relationships/image" Target="../media/image72.png"/><Relationship Id="rId3" Type="http://schemas.openxmlformats.org/officeDocument/2006/relationships/image" Target="../media/image71.svg"/><Relationship Id="rId2" Type="http://schemas.openxmlformats.org/officeDocument/2006/relationships/image" Target="../media/image70.png"/><Relationship Id="rId1" Type="http://schemas.openxmlformats.org/officeDocument/2006/relationships/image" Target="../media/image2.jpeg"/></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5.xml"/><Relationship Id="rId8" Type="http://schemas.openxmlformats.org/officeDocument/2006/relationships/slideLayout" Target="../slideLayouts/slideLayout12.xml"/><Relationship Id="rId7" Type="http://schemas.openxmlformats.org/officeDocument/2006/relationships/image" Target="../media/image77.svg"/><Relationship Id="rId6" Type="http://schemas.openxmlformats.org/officeDocument/2006/relationships/image" Target="../media/image76.png"/><Relationship Id="rId5" Type="http://schemas.openxmlformats.org/officeDocument/2006/relationships/image" Target="../media/image75.svg"/><Relationship Id="rId4" Type="http://schemas.openxmlformats.org/officeDocument/2006/relationships/image" Target="../media/image74.png"/><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image" Target="../media/image2.jpeg"/></Relationships>
</file>

<file path=ppt/slides/_rels/slide16.xml.rels><?xml version="1.0" encoding="UTF-8" standalone="yes"?>
<Relationships xmlns="http://schemas.openxmlformats.org/package/2006/relationships"><Relationship Id="rId4" Type="http://schemas.openxmlformats.org/officeDocument/2006/relationships/notesSlide" Target="../notesSlides/notesSlide16.xml"/><Relationship Id="rId3" Type="http://schemas.openxmlformats.org/officeDocument/2006/relationships/slideLayout" Target="../slideLayouts/slideLayout12.xml"/><Relationship Id="rId2" Type="http://schemas.openxmlformats.org/officeDocument/2006/relationships/image" Target="../media/image79.png"/><Relationship Id="rId1" Type="http://schemas.openxmlformats.org/officeDocument/2006/relationships/image" Target="../media/image78.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143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6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论文深度解析</a:t>
            </a:r>
            <a:endParaRPr lang="en-US" sz="1100"/>
          </a:p>
        </p:txBody>
      </p:sp>
      <p:sp>
        <p:nvSpPr>
          <p:cNvPr id="4" name="AutoShape 4"/>
          <p:cNvSpPr/>
          <p:nvPr/>
        </p:nvSpPr>
        <p:spPr>
          <a:xfrm>
            <a:off x="0" y="2540000"/>
            <a:ext cx="12192000" cy="1397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7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Attention Is All You Need</a:t>
            </a:r>
            <a:endParaRPr lang="en-US" sz="1100"/>
          </a:p>
        </p:txBody>
      </p:sp>
      <p:sp>
        <p:nvSpPr>
          <p:cNvPr id="5" name="AutoShape 5"/>
          <p:cNvSpPr/>
          <p:nvPr/>
        </p:nvSpPr>
        <p:spPr>
          <a:xfrm>
            <a:off x="0" y="4191000"/>
            <a:ext cx="12192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3200" b="0" i="0" u="none" strike="noStrike">
                <a:solidFill>
                  <a:srgbClr val="FFFF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从 RNN 到 Transformer 的范式革命</a:t>
            </a:r>
            <a:endParaRPr lang="en-US" sz="1100"/>
          </a:p>
        </p:txBody>
      </p:sp>
      <p:sp>
        <p:nvSpPr>
          <p:cNvPr id="6" name="AutoShape 6"/>
          <p:cNvSpPr/>
          <p:nvPr/>
        </p:nvSpPr>
        <p:spPr>
          <a:xfrm>
            <a:off x="0" y="5207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0" i="0" u="none" strike="noStrike">
                <a:solidFill>
                  <a:srgbClr val="E2E8F0">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Vaswani et al., NIPS 2017</a:t>
            </a:r>
            <a:endParaRPr lang="en-US" sz="1100"/>
          </a:p>
        </p:txBody>
      </p:sp>
      <p:sp>
        <p:nvSpPr>
          <p:cNvPr id="7" name="AutoShape 7"/>
          <p:cNvSpPr/>
          <p:nvPr/>
        </p:nvSpPr>
        <p:spPr>
          <a:xfrm>
            <a:off x="0" y="5969000"/>
            <a:ext cx="12192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600" b="0" i="0" u="none" strike="noStrike">
                <a:solidFill>
                  <a:srgbClr val="CBD5E1">
                    <a:alpha val="6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讲者：[你的名字] | 2026年3月</a:t>
            </a:r>
            <a:endParaRPr lang="en-US" sz="11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目录</a:t>
            </a:r>
            <a:r>
              <a:rPr lang="en-US" sz="2400" b="0" i="0" u="none" strike="noStrike">
                <a:solidFill>
                  <a:srgbClr val="A855F7">
                    <a:alpha val="80000"/>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CONTENTS</a:t>
            </a:r>
            <a:endParaRPr lang="en-US" sz="1100"/>
          </a:p>
        </p:txBody>
      </p:sp>
      <p:sp>
        <p:nvSpPr>
          <p:cNvPr id="4" name="AutoShape 4"/>
          <p:cNvSpPr/>
          <p:nvPr/>
        </p:nvSpPr>
        <p:spPr>
          <a:xfrm>
            <a:off x="762000" y="1778000"/>
            <a:ext cx="5207000" cy="2159000"/>
          </a:xfrm>
          <a:prstGeom prst="roundRect">
            <a:avLst>
              <a:gd name="adj" fmla="val 7058"/>
            </a:avLst>
          </a:prstGeom>
          <a:solidFill>
            <a:srgbClr val="1E2332">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2032000"/>
            <a:ext cx="101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a:t>
            </a:r>
            <a:endParaRPr lang="en-US" sz="1100"/>
          </a:p>
        </p:txBody>
      </p:sp>
      <p:sp>
        <p:nvSpPr>
          <p:cNvPr id="6" name="AutoShape 6"/>
          <p:cNvSpPr/>
          <p:nvPr/>
        </p:nvSpPr>
        <p:spPr>
          <a:xfrm>
            <a:off x="2159000" y="2095500"/>
            <a:ext cx="3429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引言与研究背景</a:t>
            </a:r>
            <a:endParaRPr lang="en-US" sz="1100"/>
          </a:p>
          <a:p>
            <a:pPr indent="0" algn="l">
              <a:lnSpc>
                <a:spcPct val="117000"/>
              </a:lnSpc>
              <a:spcBef>
                <a:spcPts val="12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序列建模的演进困境</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注意力机制的演变与核心动机</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223000" y="1778000"/>
            <a:ext cx="5207000" cy="2159000"/>
          </a:xfrm>
          <a:prstGeom prst="roundRect">
            <a:avLst>
              <a:gd name="adj" fmla="val 7058"/>
            </a:avLst>
          </a:prstGeom>
          <a:solidFill>
            <a:srgbClr val="1E2332">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477000" y="2032000"/>
            <a:ext cx="101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a:t>
            </a:r>
            <a:endParaRPr lang="en-US" sz="1100"/>
          </a:p>
        </p:txBody>
      </p:sp>
      <p:sp>
        <p:nvSpPr>
          <p:cNvPr id="9" name="AutoShape 9"/>
          <p:cNvSpPr/>
          <p:nvPr/>
        </p:nvSpPr>
        <p:spPr>
          <a:xfrm>
            <a:off x="7620000" y="2095500"/>
            <a:ext cx="3429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Transformer核心架构与机制</a:t>
            </a:r>
            <a:endParaRPr lang="en-US" sz="1100"/>
          </a:p>
          <a:p>
            <a:pPr indent="0" algn="l">
              <a:lnSpc>
                <a:spcPct val="117000"/>
              </a:lnSpc>
              <a:spcBef>
                <a:spcPts val="12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整体架构鸟瞰与编解码详解</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核心机制：Attention / Multi-Head / PE</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762000" y="4191000"/>
            <a:ext cx="5207000" cy="2159000"/>
          </a:xfrm>
          <a:prstGeom prst="roundRect">
            <a:avLst>
              <a:gd name="adj" fmla="val 7058"/>
            </a:avLst>
          </a:prstGeom>
          <a:solidFill>
            <a:srgbClr val="1E2332">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1016000" y="4445000"/>
            <a:ext cx="101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a:t>
            </a:r>
            <a:endParaRPr lang="en-US" sz="1100"/>
          </a:p>
        </p:txBody>
      </p:sp>
      <p:sp>
        <p:nvSpPr>
          <p:cNvPr id="12" name="AutoShape 12"/>
          <p:cNvSpPr/>
          <p:nvPr/>
        </p:nvSpPr>
        <p:spPr>
          <a:xfrm>
            <a:off x="2159000" y="4508500"/>
            <a:ext cx="3429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对比分析与深远影响</a:t>
            </a:r>
            <a:endParaRPr lang="en-US" sz="1100"/>
          </a:p>
          <a:p>
            <a:pPr indent="0" algn="l">
              <a:lnSpc>
                <a:spcPct val="117000"/>
              </a:lnSpc>
              <a:spcBef>
                <a:spcPts val="12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与RNN/LSTM的架构差异</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弱归纳偏置思考与技术贡献</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4191000"/>
            <a:ext cx="5207000" cy="2159000"/>
          </a:xfrm>
          <a:prstGeom prst="roundRect">
            <a:avLst>
              <a:gd name="adj" fmla="val 7058"/>
            </a:avLst>
          </a:prstGeom>
          <a:solidFill>
            <a:srgbClr val="1E2332">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477000" y="4445000"/>
            <a:ext cx="1016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4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04</a:t>
            </a:r>
            <a:endParaRPr lang="en-US" sz="1100"/>
          </a:p>
        </p:txBody>
      </p:sp>
      <p:sp>
        <p:nvSpPr>
          <p:cNvPr id="15" name="AutoShape 15"/>
          <p:cNvSpPr/>
          <p:nvPr/>
        </p:nvSpPr>
        <p:spPr>
          <a:xfrm>
            <a:off x="7620000" y="4508500"/>
            <a:ext cx="3429000" cy="1651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总结与展望</a:t>
            </a:r>
            <a:endParaRPr lang="en-US" sz="1100"/>
          </a:p>
          <a:p>
            <a:pPr indent="0" algn="l">
              <a:lnSpc>
                <a:spcPct val="117000"/>
              </a:lnSpc>
              <a:spcBef>
                <a:spcPts val="12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核心思想回顾</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对AI行业未来发展的启示</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 研究背景：RNN的统治与困境</a:t>
            </a:r>
            <a:endParaRPr lang="en-US" sz="1100"/>
          </a:p>
        </p:txBody>
      </p:sp>
      <p:sp>
        <p:nvSpPr>
          <p:cNvPr id="4" name="AutoShape 4"/>
          <p:cNvSpPr/>
          <p:nvPr/>
        </p:nvSpPr>
        <p:spPr>
          <a:xfrm>
            <a:off x="762000" y="1905000"/>
            <a:ext cx="4318000" cy="3683000"/>
          </a:xfrm>
          <a:prstGeom prst="roundRect">
            <a:avLst>
              <a:gd name="adj" fmla="val 4137"/>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srcRect t="1080" b="1080"/>
          <a:stretch>
            <a:fillRect/>
          </a:stretch>
        </p:blipFill>
        <p:spPr>
          <a:xfrm>
            <a:off x="952500" y="2095500"/>
            <a:ext cx="3937000" cy="2667000"/>
          </a:xfrm>
          <a:prstGeom prst="rect">
            <a:avLst/>
          </a:prstGeom>
          <a:noFill/>
          <a:ln w="25400" cap="flat" cmpd="sng">
            <a:noFill/>
            <a:prstDash val="solid"/>
            <a:round/>
          </a:ln>
        </p:spPr>
      </p:pic>
      <p:sp>
        <p:nvSpPr>
          <p:cNvPr id="6" name="AutoShape 6"/>
          <p:cNvSpPr/>
          <p:nvPr/>
        </p:nvSpPr>
        <p:spPr>
          <a:xfrm>
            <a:off x="952500" y="4953000"/>
            <a:ext cx="3937000" cy="50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图：经典 LSTM 单元结构示意 (输入门/遗忘门/输出门)</a:t>
            </a:r>
            <a:endParaRPr lang="en-US" sz="1100"/>
          </a:p>
        </p:txBody>
      </p:sp>
      <p:sp>
        <p:nvSpPr>
          <p:cNvPr id="7" name="AutoShape 7"/>
          <p:cNvSpPr/>
          <p:nvPr/>
        </p:nvSpPr>
        <p:spPr>
          <a:xfrm>
            <a:off x="5461000" y="1905000"/>
            <a:ext cx="5969000" cy="1397000"/>
          </a:xfrm>
          <a:prstGeom prst="roundRect">
            <a:avLst>
              <a:gd name="adj" fmla="val 7272"/>
            </a:avLst>
          </a:prstGeom>
          <a:solidFill>
            <a:srgbClr val="1E293B">
              <a:alpha val="9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5715000" y="2095500"/>
            <a:ext cx="5461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核心思想：时间上的马尔可夫链式传递</a:t>
            </a:r>
            <a:endParaRPr lang="en-US" sz="1100"/>
          </a:p>
          <a:p>
            <a:pPr indent="0" algn="l">
              <a:lnSpc>
                <a:spcPct val="117000"/>
              </a:lnSpc>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RNN及其变体（LSTM, GRU）曾主导序列建模领域，核心逻辑遵循 $h_t = f(h_{t-1}, x_t)$，通过状态在时间轴上的链式传递，将过去的信息逐步带入当前时刻。</a:t>
            </a:r>
            <a:endPar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5461000" y="3683000"/>
            <a:ext cx="1841500" cy="2413000"/>
          </a:xfrm>
          <a:prstGeom prst="roundRect">
            <a:avLst>
              <a:gd name="adj" fmla="val 5517"/>
            </a:avLst>
          </a:prstGeom>
          <a:solidFill>
            <a:srgbClr val="1E293B">
              <a:alpha val="95000"/>
            </a:srgbClr>
          </a:solidFill>
          <a:ln w="12700" cap="flat" cmpd="sng">
            <a:solidFill>
              <a:srgbClr val="475569">
                <a:alpha val="8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5651500" y="3937000"/>
            <a:ext cx="406400" cy="406400"/>
          </a:xfrm>
          <a:prstGeom prst="rect">
            <a:avLst/>
          </a:prstGeom>
        </p:spPr>
      </p:pic>
      <p:sp>
        <p:nvSpPr>
          <p:cNvPr id="11" name="AutoShape 11"/>
          <p:cNvSpPr/>
          <p:nvPr/>
        </p:nvSpPr>
        <p:spPr>
          <a:xfrm>
            <a:off x="6159500" y="3937000"/>
            <a:ext cx="101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并行受限</a:t>
            </a:r>
            <a:endParaRPr lang="en-US" sz="1100"/>
          </a:p>
        </p:txBody>
      </p:sp>
      <p:sp>
        <p:nvSpPr>
          <p:cNvPr id="12" name="AutoShape 12"/>
          <p:cNvSpPr/>
          <p:nvPr/>
        </p:nvSpPr>
        <p:spPr>
          <a:xfrm>
            <a:off x="5613400" y="4572000"/>
            <a:ext cx="15367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受序列强依赖关系限制，计算无法并行，导致训练速度慢。可类比为“单车道高速公路”，车辆必须排队通过。</a:t>
            </a:r>
            <a:endParaRPr lang="en-US" sz="1100"/>
          </a:p>
        </p:txBody>
      </p:sp>
      <p:sp>
        <p:nvSpPr>
          <p:cNvPr id="13" name="AutoShape 13"/>
          <p:cNvSpPr/>
          <p:nvPr/>
        </p:nvSpPr>
        <p:spPr>
          <a:xfrm>
            <a:off x="7493000" y="3683000"/>
            <a:ext cx="1841500" cy="2413000"/>
          </a:xfrm>
          <a:prstGeom prst="roundRect">
            <a:avLst>
              <a:gd name="adj" fmla="val 5517"/>
            </a:avLst>
          </a:prstGeom>
          <a:solidFill>
            <a:srgbClr val="1E293B">
              <a:alpha val="95000"/>
            </a:srgbClr>
          </a:solidFill>
          <a:ln w="12700" cap="flat" cmpd="sng">
            <a:solidFill>
              <a:srgbClr val="475569">
                <a:alpha val="8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7683500" y="3937000"/>
            <a:ext cx="406400" cy="406400"/>
          </a:xfrm>
          <a:prstGeom prst="rect">
            <a:avLst/>
          </a:prstGeom>
        </p:spPr>
      </p:pic>
      <p:sp>
        <p:nvSpPr>
          <p:cNvPr id="15" name="AutoShape 15"/>
          <p:cNvSpPr/>
          <p:nvPr/>
        </p:nvSpPr>
        <p:spPr>
          <a:xfrm>
            <a:off x="8191500" y="3937000"/>
            <a:ext cx="101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梯度衰减</a:t>
            </a:r>
            <a:endParaRPr lang="en-US" sz="1100"/>
          </a:p>
        </p:txBody>
      </p:sp>
      <p:sp>
        <p:nvSpPr>
          <p:cNvPr id="16" name="AutoShape 16"/>
          <p:cNvSpPr/>
          <p:nvPr/>
        </p:nvSpPr>
        <p:spPr>
          <a:xfrm>
            <a:off x="7645400" y="4572000"/>
            <a:ext cx="15367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反向传播时，梯度易随时间步长呈指数级消失或爆炸。LSTM/GRU虽通过门控机制缓解，但未根治长距离依赖问题。</a:t>
            </a:r>
            <a:endParaRPr lang="en-US" sz="1100"/>
          </a:p>
        </p:txBody>
      </p:sp>
      <p:sp>
        <p:nvSpPr>
          <p:cNvPr id="17" name="AutoShape 17"/>
          <p:cNvSpPr/>
          <p:nvPr/>
        </p:nvSpPr>
        <p:spPr>
          <a:xfrm>
            <a:off x="9525000" y="3683000"/>
            <a:ext cx="1841500" cy="2413000"/>
          </a:xfrm>
          <a:prstGeom prst="roundRect">
            <a:avLst>
              <a:gd name="adj" fmla="val 5517"/>
            </a:avLst>
          </a:prstGeom>
          <a:solidFill>
            <a:srgbClr val="1E293B">
              <a:alpha val="95000"/>
            </a:srgbClr>
          </a:solidFill>
          <a:ln w="12700" cap="flat" cmpd="sng">
            <a:solidFill>
              <a:srgbClr val="475569">
                <a:alpha val="8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9715500" y="3937000"/>
            <a:ext cx="406400" cy="406400"/>
          </a:xfrm>
          <a:prstGeom prst="rect">
            <a:avLst/>
          </a:prstGeom>
        </p:spPr>
      </p:pic>
      <p:sp>
        <p:nvSpPr>
          <p:cNvPr id="19" name="AutoShape 19"/>
          <p:cNvSpPr/>
          <p:nvPr/>
        </p:nvSpPr>
        <p:spPr>
          <a:xfrm>
            <a:off x="10223500" y="3937000"/>
            <a:ext cx="101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结构单一</a:t>
            </a:r>
            <a:endParaRPr lang="en-US" sz="1100"/>
          </a:p>
        </p:txBody>
      </p:sp>
      <p:sp>
        <p:nvSpPr>
          <p:cNvPr id="20" name="AutoShape 20"/>
          <p:cNvSpPr/>
          <p:nvPr/>
        </p:nvSpPr>
        <p:spPr>
          <a:xfrm>
            <a:off x="9677400" y="4572000"/>
            <a:ext cx="1536700" cy="1397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将序列强行建模为线性演进过程，难以有效捕捉文本中复杂的、跳跃式的非局部语义关联，限制了模型表达能力。</a:t>
            </a:r>
            <a:endParaRPr lang="en-US" sz="110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动机：从辅助到核心的注意力机制</a:t>
            </a:r>
            <a:endParaRPr lang="en-US" sz="1100"/>
          </a:p>
        </p:txBody>
      </p:sp>
      <p:sp>
        <p:nvSpPr>
          <p:cNvPr id="4" name="AutoShape 4"/>
          <p:cNvSpPr/>
          <p:nvPr/>
        </p:nvSpPr>
        <p:spPr>
          <a:xfrm>
            <a:off x="762000" y="1905000"/>
            <a:ext cx="3302000" cy="4191000"/>
          </a:xfrm>
          <a:prstGeom prst="roundRect">
            <a:avLst>
              <a:gd name="adj" fmla="val 4615"/>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304800" cy="304800"/>
          </a:xfrm>
          <a:prstGeom prst="rect">
            <a:avLst/>
          </a:prstGeom>
        </p:spPr>
      </p:pic>
      <p:sp>
        <p:nvSpPr>
          <p:cNvPr id="6" name="AutoShape 6"/>
          <p:cNvSpPr/>
          <p:nvPr/>
        </p:nvSpPr>
        <p:spPr>
          <a:xfrm>
            <a:off x="1460500" y="2133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前Transformer探索</a:t>
            </a:r>
            <a:endParaRPr lang="en-US" sz="1100"/>
          </a:p>
        </p:txBody>
      </p:sp>
      <p:sp>
        <p:nvSpPr>
          <p:cNvPr id="7" name="AutoShape 7"/>
          <p:cNvSpPr/>
          <p:nvPr/>
        </p:nvSpPr>
        <p:spPr>
          <a:xfrm>
            <a:off x="1016000" y="2921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Bahdanau (2014):</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在 Seq2Seq 架构中首次引入“加法注意力”。它被定位为 RNN 的**辅助组件**，主要解决固定长度上下文向量的信息瓶颈问题。</a:t>
            </a:r>
            <a:endParaRPr lang="en-US" sz="1100"/>
          </a:p>
          <a:p>
            <a:pPr indent="0" algn="l">
              <a:lnSpc>
                <a:spcPct val="117000"/>
              </a:lnSpc>
              <a:spcBef>
                <a:spcPts val="1500"/>
              </a:spcBef>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当时主流：</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“RNN + Attention” 的混合模式。注意力机制虽已登场，但始终处于配角地位。</a:t>
            </a:r>
            <a:endPar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905000"/>
            <a:ext cx="3302000" cy="4191000"/>
          </a:xfrm>
          <a:prstGeom prst="roundRect">
            <a:avLst>
              <a:gd name="adj" fmla="val 4615"/>
            </a:avLst>
          </a:prstGeom>
          <a:gradFill rotWithShape="1">
            <a:gsLst>
              <a:gs pos="0">
                <a:srgbClr val="A855F7">
                  <a:alpha val="95000"/>
                </a:srgbClr>
              </a:gs>
              <a:gs pos="100000">
                <a:srgbClr val="6D28D9">
                  <a:alpha val="95000"/>
                </a:srgbClr>
              </a:gs>
            </a:gsLst>
            <a:lin ang="5400000"/>
          </a:gra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355600" cy="355600"/>
          </a:xfrm>
          <a:prstGeom prst="rect">
            <a:avLst/>
          </a:prstGeom>
        </p:spPr>
      </p:pic>
      <p:sp>
        <p:nvSpPr>
          <p:cNvPr id="10" name="AutoShape 10"/>
          <p:cNvSpPr/>
          <p:nvPr/>
        </p:nvSpPr>
        <p:spPr>
          <a:xfrm>
            <a:off x="5207000" y="2133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灵魂拷问：核心问题</a:t>
            </a:r>
            <a:endParaRPr lang="en-US" sz="1100"/>
          </a:p>
        </p:txBody>
      </p:sp>
      <p:sp>
        <p:nvSpPr>
          <p:cNvPr id="11" name="AutoShape 11"/>
          <p:cNvSpPr/>
          <p:nvPr/>
        </p:nvSpPr>
        <p:spPr>
          <a:xfrm>
            <a:off x="4699000" y="3175000"/>
            <a:ext cx="2794000" cy="203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如果注意力本身</a:t>
            </a:r>
            <a:b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足够强大，</a:t>
            </a:r>
            <a:b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我们还需要 RNN 吗？</a:t>
            </a:r>
            <a:endParaRPr lang="en-US" sz="1100"/>
          </a:p>
        </p:txBody>
      </p:sp>
      <p:sp>
        <p:nvSpPr>
          <p:cNvPr id="12" name="AutoShape 12"/>
          <p:cNvSpPr/>
          <p:nvPr/>
        </p:nvSpPr>
        <p:spPr>
          <a:xfrm>
            <a:off x="4699000" y="5207000"/>
            <a:ext cx="2794000" cy="762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0" i="1" u="none" strike="noStrike">
                <a:solidFill>
                  <a:srgbClr val="F3E8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给出了明确的答案：</a:t>
            </a:r>
            <a:br>
              <a:rPr lang="en-US" sz="1300" b="0" i="1" u="none" strike="noStrike">
                <a:solidFill>
                  <a:srgbClr val="F3E8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300" b="0" i="1" u="none" strike="noStrike">
                <a:solidFill>
                  <a:srgbClr val="F3E8FF">
                    <a:alpha val="9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“不需要”</a:t>
            </a:r>
            <a:endParaRPr lang="en-US" sz="1100"/>
          </a:p>
        </p:txBody>
      </p:sp>
      <p:sp>
        <p:nvSpPr>
          <p:cNvPr id="13" name="AutoShape 13"/>
          <p:cNvSpPr/>
          <p:nvPr/>
        </p:nvSpPr>
        <p:spPr>
          <a:xfrm>
            <a:off x="8128000" y="1905000"/>
            <a:ext cx="3302000" cy="4191000"/>
          </a:xfrm>
          <a:prstGeom prst="roundRect">
            <a:avLst>
              <a:gd name="adj" fmla="val 4615"/>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159000"/>
            <a:ext cx="304800" cy="304800"/>
          </a:xfrm>
          <a:prstGeom prst="rect">
            <a:avLst/>
          </a:prstGeom>
        </p:spPr>
      </p:pic>
      <p:sp>
        <p:nvSpPr>
          <p:cNvPr id="15" name="AutoShape 15"/>
          <p:cNvSpPr/>
          <p:nvPr/>
        </p:nvSpPr>
        <p:spPr>
          <a:xfrm>
            <a:off x="8826500" y="2133600"/>
            <a:ext cx="2413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论文核心洞察</a:t>
            </a:r>
            <a:endParaRPr lang="en-US" sz="1100"/>
          </a:p>
        </p:txBody>
      </p:sp>
      <p:sp>
        <p:nvSpPr>
          <p:cNvPr id="16" name="AutoShape 16"/>
          <p:cNvSpPr/>
          <p:nvPr/>
        </p:nvSpPr>
        <p:spPr>
          <a:xfrm>
            <a:off x="8382000" y="2921000"/>
            <a:ext cx="2794000" cy="2794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本质重构：</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序列建模的本质是**“关系建模”**，而非必须依赖时间步的“顺序处理”。</a:t>
            </a:r>
            <a:endParaRPr lang="en-US" sz="1100"/>
          </a:p>
          <a:p>
            <a:pPr indent="0" algn="l">
              <a:lnSpc>
                <a:spcPct val="117000"/>
              </a:lnSpc>
              <a:spcBef>
                <a:spcPts val="1200"/>
              </a:spcBef>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彻底革命：</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完全废除循环结构，通过**自注意力机制**，直接计算序列中任意元素间的相关性权重并聚合信息。</a:t>
            </a:r>
            <a:endPar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spcBef>
                <a:spcPts val="1200"/>
              </a:spcBef>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4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范式对齐：</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这一思路与图神经网络(GNN)的“消息传递”范式不谋而合。</a:t>
            </a:r>
            <a:endPar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Transformer 整体架构概览</a:t>
            </a:r>
            <a:endParaRPr lang="en-US" sz="1100"/>
          </a:p>
        </p:txBody>
      </p:sp>
      <p:pic>
        <p:nvPicPr>
          <p:cNvPr id="4" name="Picture 4"/>
          <p:cNvPicPr>
            <a:picLocks noChangeAspect="1"/>
          </p:cNvPicPr>
          <p:nvPr/>
        </p:nvPicPr>
        <p:blipFill>
          <a:blip r:embed="rId2"/>
          <a:srcRect t="11941" b="11941"/>
          <a:stretch>
            <a:fillRect/>
          </a:stretch>
        </p:blipFill>
        <p:spPr>
          <a:xfrm>
            <a:off x="762000" y="1778000"/>
            <a:ext cx="4572000" cy="4445000"/>
          </a:xfrm>
          <a:prstGeom prst="rect">
            <a:avLst/>
          </a:prstGeom>
          <a:noFill/>
          <a:ln w="25400" cap="flat" cmpd="sng">
            <a:solidFill>
              <a:srgbClr val="A855F7">
                <a:alpha val="4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5842000" y="1778000"/>
            <a:ext cx="5588000" cy="1143000"/>
          </a:xfrm>
          <a:prstGeom prst="roundRect">
            <a:avLst>
              <a:gd name="adj" fmla="val 8888"/>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032500" y="2032000"/>
            <a:ext cx="406400" cy="406400"/>
          </a:xfrm>
          <a:prstGeom prst="rect">
            <a:avLst/>
          </a:prstGeom>
        </p:spPr>
      </p:pic>
      <p:sp>
        <p:nvSpPr>
          <p:cNvPr id="7" name="AutoShape 7"/>
          <p:cNvSpPr/>
          <p:nvPr/>
        </p:nvSpPr>
        <p:spPr>
          <a:xfrm>
            <a:off x="6604000" y="1968500"/>
            <a:ext cx="4572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宏观结构：标准的 Encoder-Decoder 框架</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通过“编码-解码”模式，将输入序列映射为输出序列，是序列到序列(Seq2Seq)任务的经典范式。</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5842000" y="3175000"/>
            <a:ext cx="5588000" cy="1397000"/>
          </a:xfrm>
          <a:prstGeom prst="roundRect">
            <a:avLst>
              <a:gd name="adj" fmla="val 7272"/>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032500" y="3492500"/>
            <a:ext cx="406400" cy="406400"/>
          </a:xfrm>
          <a:prstGeom prst="rect">
            <a:avLst/>
          </a:prstGeom>
        </p:spPr>
      </p:pic>
      <p:sp>
        <p:nvSpPr>
          <p:cNvPr id="10" name="AutoShape 10"/>
          <p:cNvSpPr/>
          <p:nvPr/>
        </p:nvSpPr>
        <p:spPr>
          <a:xfrm>
            <a:off x="6604000" y="3365500"/>
            <a:ext cx="4572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核心数据流向</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Input Embedding + Positional Encoding →</a:t>
            </a: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[Encoder × N]</a:t>
            </a: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r>
              <a:rPr lang="en-US" sz="1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[Decoder × N]</a:t>
            </a: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 Linear + Softmax → Output</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5842000" y="4826000"/>
            <a:ext cx="2667000" cy="1651000"/>
          </a:xfrm>
          <a:prstGeom prst="roundRect">
            <a:avLst>
              <a:gd name="adj" fmla="val 6153"/>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5994400" y="5016500"/>
            <a:ext cx="304800" cy="304800"/>
          </a:xfrm>
          <a:prstGeom prst="rect">
            <a:avLst/>
          </a:prstGeom>
        </p:spPr>
      </p:pic>
      <p:sp>
        <p:nvSpPr>
          <p:cNvPr id="13" name="AutoShape 13"/>
          <p:cNvSpPr/>
          <p:nvPr/>
        </p:nvSpPr>
        <p:spPr>
          <a:xfrm>
            <a:off x="6413500" y="4978400"/>
            <a:ext cx="19685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N层编码器 (Encoder)</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负责处理输入序列，通过自注意力机制捕捉输入序列中词与词之间的全局上下文信息。</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8763000" y="4826000"/>
            <a:ext cx="2667000" cy="1651000"/>
          </a:xfrm>
          <a:prstGeom prst="roundRect">
            <a:avLst>
              <a:gd name="adj" fmla="val 6153"/>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8915400" y="5016500"/>
            <a:ext cx="304800" cy="304800"/>
          </a:xfrm>
          <a:prstGeom prst="rect">
            <a:avLst/>
          </a:prstGeom>
        </p:spPr>
      </p:pic>
      <p:sp>
        <p:nvSpPr>
          <p:cNvPr id="16" name="AutoShape 16"/>
          <p:cNvSpPr/>
          <p:nvPr/>
        </p:nvSpPr>
        <p:spPr>
          <a:xfrm>
            <a:off x="9334500" y="4978400"/>
            <a:ext cx="1968500" cy="1206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N层解码器 (Decoder)</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负责生成输出序列，同时关注编码器输出的输入信息和已生成的部分输出结果。</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Encoder层：上下文信息的融合器</a:t>
            </a:r>
            <a:endParaRPr lang="en-US" sz="1100"/>
          </a:p>
        </p:txBody>
      </p:sp>
      <p:pic>
        <p:nvPicPr>
          <p:cNvPr id="4" name="Picture 4"/>
          <p:cNvPicPr>
            <a:picLocks noChangeAspect="1"/>
          </p:cNvPicPr>
          <p:nvPr/>
        </p:nvPicPr>
        <p:blipFill>
          <a:blip r:embed="rId2"/>
          <a:srcRect t="15084" b="15084"/>
          <a:stretch>
            <a:fillRect/>
          </a:stretch>
        </p:blipFill>
        <p:spPr>
          <a:xfrm>
            <a:off x="762000" y="1778000"/>
            <a:ext cx="3302000" cy="4318000"/>
          </a:xfrm>
          <a:prstGeom prst="rect">
            <a:avLst/>
          </a:prstGeom>
          <a:noFill/>
          <a:ln w="25400" cap="flat" cmpd="sng">
            <a:solidFill>
              <a:srgbClr val="A855F7">
                <a:alpha val="7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4572000" y="1651000"/>
            <a:ext cx="6858000" cy="8255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单层核心架构</a:t>
            </a:r>
            <a:endParaRPr lang="en-US" sz="1100"/>
          </a:p>
          <a:p>
            <a:pPr indent="0" algn="l">
              <a:lnSpc>
                <a:spcPct val="108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每一个Encoder层由两个顺序执行的子层组成，且在每一个子层输出端都严格遵循“残差连接 + 层归一化”的标准化设计，以保证信息的有效流动。</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4572000" y="2794000"/>
            <a:ext cx="3302000" cy="1841500"/>
          </a:xfrm>
          <a:prstGeom prst="roundRect">
            <a:avLst>
              <a:gd name="adj" fmla="val 8275"/>
            </a:avLst>
          </a:prstGeom>
          <a:solidFill>
            <a:srgbClr val="1E293B">
              <a:alpha val="95000"/>
            </a:srgbClr>
          </a:solidFill>
          <a:ln w="12700" cap="flat" cmpd="sng">
            <a:solidFill>
              <a:srgbClr val="A855F7">
                <a:alpha val="6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4699000" y="2921000"/>
            <a:ext cx="3048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01. 多头自注意力 (Multi-Head Attention)</a:t>
            </a:r>
            <a:endParaRPr lang="en-US" sz="1100"/>
          </a:p>
          <a:p>
            <a:pPr indent="0" algn="l">
              <a:lnSpc>
                <a:spcPct val="117000"/>
              </a:lnSpc>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公式：LayerNorm(x + MultiHeadAttention(x, x, x))</a:t>
            </a:r>
            <a:endPar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允许序列中每一个词“同时关注”句子中所有其他词的信息，并行计算以高效捕捉全局上下文依赖关系。</a:t>
            </a:r>
            <a:endPar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8128000" y="2794000"/>
            <a:ext cx="3302000" cy="1841500"/>
          </a:xfrm>
          <a:prstGeom prst="roundRect">
            <a:avLst>
              <a:gd name="adj" fmla="val 8275"/>
            </a:avLst>
          </a:prstGeom>
          <a:solidFill>
            <a:srgbClr val="1E293B">
              <a:alpha val="95000"/>
            </a:srgbClr>
          </a:solidFill>
          <a:ln w="12700" cap="flat" cmpd="sng">
            <a:solidFill>
              <a:srgbClr val="A855F7">
                <a:alpha val="60000"/>
              </a:srgbClr>
            </a:solidFill>
            <a:prstDash val="solid"/>
            <a:round/>
          </a:ln>
        </p:spPr>
        <p:txBody>
          <a:bodyPr vert="horz" wrap="square" lIns="63500" tIns="63500" rIns="63500" bIns="63500" rtlCol="0" anchor="ctr"/>
          <a:lstStyle/>
          <a:p>
            <a:pPr algn="ctr">
              <a:defRPr/>
            </a:pPr>
          </a:p>
        </p:txBody>
      </p:sp>
      <p:sp>
        <p:nvSpPr>
          <p:cNvPr id="9" name="AutoShape 9"/>
          <p:cNvSpPr/>
          <p:nvPr/>
        </p:nvSpPr>
        <p:spPr>
          <a:xfrm>
            <a:off x="8255000" y="2921000"/>
            <a:ext cx="3048000" cy="1587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位置全连接前馈网络 (Feed-Forward)</a:t>
            </a:r>
            <a:endParaRPr lang="en-US" sz="1100"/>
          </a:p>
          <a:p>
            <a:pPr indent="0" algn="l">
              <a:lnSpc>
                <a:spcPct val="117000"/>
              </a:lnSpc>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公式：LayerNorm(x + FeedForward(x))</a:t>
            </a:r>
            <a:endPar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a:p>
            <a:pPr indent="0" algn="l">
              <a:lnSpc>
                <a:spcPct val="117000"/>
              </a:lnSpc>
            </a:pPr>
            <a:r>
              <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对序列中的每个位置独立应用相同的双层线性变换与激活函数，为模型引入非线性表达能力。</a:t>
            </a:r>
            <a:endPar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0" name="AutoShape 10"/>
          <p:cNvSpPr/>
          <p:nvPr/>
        </p:nvSpPr>
        <p:spPr>
          <a:xfrm>
            <a:off x="4572000" y="4826000"/>
            <a:ext cx="3302000" cy="1651000"/>
          </a:xfrm>
          <a:prstGeom prst="roundRect">
            <a:avLst>
              <a:gd name="adj" fmla="val 9230"/>
            </a:avLst>
          </a:prstGeom>
          <a:solidFill>
            <a:srgbClr val="1E293B">
              <a:alpha val="95000"/>
            </a:srgbClr>
          </a:solidFill>
          <a:ln w="12700" cap="flat" cmpd="sng">
            <a:solidFill>
              <a:srgbClr val="34D399">
                <a:alpha val="70000"/>
              </a:srgbClr>
            </a:solidFill>
            <a:prstDash val="solid"/>
            <a:round/>
          </a:ln>
        </p:spPr>
        <p:txBody>
          <a:bodyPr vert="horz" wrap="square" lIns="63500" tIns="63500" rIns="63500" bIns="63500" rtlCol="0" anchor="ctr"/>
          <a:lstStyle/>
          <a:p>
            <a:pPr algn="ctr">
              <a:defRPr/>
            </a:pPr>
          </a:p>
        </p:txBody>
      </p:sp>
      <p:sp>
        <p:nvSpPr>
          <p:cNvPr id="11" name="AutoShape 11"/>
          <p:cNvSpPr/>
          <p:nvPr/>
        </p:nvSpPr>
        <p:spPr>
          <a:xfrm>
            <a:off x="4699000" y="4953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4D399"/>
                </a:solidFill>
                <a:latin typeface="Noto Sans SC" panose="020B0200000000000000" charset="-122"/>
                <a:ea typeface="Noto Sans SC" panose="020B0200000000000000" charset="-122"/>
                <a:cs typeface="Noto Sans SC" panose="020B0200000000000000" charset="-122"/>
                <a:sym typeface="Noto Sans SC" panose="020B0200000000000000" charset="-122"/>
              </a:rPr>
              <a:t>🛣️ 残差连接 (Residual Connection)</a:t>
            </a:r>
            <a:endParaRPr lang="en-US" sz="1100"/>
          </a:p>
          <a:p>
            <a:pPr indent="0" algn="l">
              <a:lnSpc>
                <a:spcPct val="117000"/>
              </a:lnSpc>
            </a:pPr>
            <a:r>
              <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构建信息传递的“高速公路”，直接将子层输入与输出相加，有效缓解深层网络训练中的梯度消失问题，保障信息流畅通。</a:t>
            </a:r>
            <a:endPar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28000" y="4826000"/>
            <a:ext cx="3302000" cy="1651000"/>
          </a:xfrm>
          <a:prstGeom prst="roundRect">
            <a:avLst>
              <a:gd name="adj" fmla="val 9230"/>
            </a:avLst>
          </a:prstGeom>
          <a:solidFill>
            <a:srgbClr val="1E293B">
              <a:alpha val="95000"/>
            </a:srgbClr>
          </a:solidFill>
          <a:ln w="12700" cap="flat" cmpd="sng">
            <a:solidFill>
              <a:srgbClr val="38BDF8">
                <a:alpha val="70000"/>
              </a:srgbClr>
            </a:solidFill>
            <a:prstDash val="solid"/>
            <a:round/>
          </a:ln>
        </p:spPr>
        <p:txBody>
          <a:bodyPr vert="horz" wrap="square" lIns="63500" tIns="63500" rIns="63500" bIns="63500" rtlCol="0" anchor="ctr"/>
          <a:lstStyle/>
          <a:p>
            <a:pPr algn="ctr">
              <a:defRPr/>
            </a:pPr>
          </a:p>
        </p:txBody>
      </p:sp>
      <p:sp>
        <p:nvSpPr>
          <p:cNvPr id="13" name="AutoShape 13"/>
          <p:cNvSpPr/>
          <p:nvPr/>
        </p:nvSpPr>
        <p:spPr>
          <a:xfrm>
            <a:off x="8255000" y="4953000"/>
            <a:ext cx="3048000" cy="1397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500" b="1" i="0" u="none" strike="noStrike">
                <a:solidFill>
                  <a:srgbClr val="38BDF8"/>
                </a:solidFill>
                <a:latin typeface="Noto Sans SC" panose="020B0200000000000000" charset="-122"/>
                <a:ea typeface="Noto Sans SC" panose="020B0200000000000000" charset="-122"/>
                <a:cs typeface="Noto Sans SC" panose="020B0200000000000000" charset="-122"/>
                <a:sym typeface="Noto Sans SC" panose="020B0200000000000000" charset="-122"/>
              </a:rPr>
              <a:t>📐 层归一化 (Layer Normalization)</a:t>
            </a:r>
            <a:endParaRPr lang="en-US" sz="1100"/>
          </a:p>
          <a:p>
            <a:pPr indent="0" algn="l">
              <a:lnSpc>
                <a:spcPct val="117000"/>
              </a:lnSpc>
            </a:pPr>
            <a:r>
              <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对每个样本的特征维度进行归一化处理，稳定模型训练动态，防止“内部协变量偏移”，从而加速模型收敛。</a:t>
            </a:r>
            <a:endParaRPr lang="en-US" sz="12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Decoder层：自回归生成的核心</a:t>
            </a:r>
            <a:endParaRPr lang="en-US" sz="1100"/>
          </a:p>
        </p:txBody>
      </p:sp>
      <p:pic>
        <p:nvPicPr>
          <p:cNvPr id="4" name="Picture 4"/>
          <p:cNvPicPr>
            <a:picLocks noChangeAspect="1"/>
          </p:cNvPicPr>
          <p:nvPr/>
        </p:nvPicPr>
        <p:blipFill>
          <a:blip r:embed="rId2"/>
          <a:srcRect l="22999" r="23000"/>
          <a:stretch>
            <a:fillRect/>
          </a:stretch>
        </p:blipFill>
        <p:spPr>
          <a:xfrm>
            <a:off x="762000" y="1905000"/>
            <a:ext cx="5080000" cy="4318000"/>
          </a:xfrm>
          <a:prstGeom prst="roundRect">
            <a:avLst>
              <a:gd name="adj" fmla="val 3529"/>
            </a:avLst>
          </a:prstGeom>
          <a:noFill/>
          <a:ln w="25400" cap="flat" cmpd="sng">
            <a:solidFill>
              <a:srgbClr val="A855F7">
                <a:alpha val="5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6223000" y="1905000"/>
            <a:ext cx="5207000" cy="1397000"/>
          </a:xfrm>
          <a:prstGeom prst="roundRect">
            <a:avLst>
              <a:gd name="adj" fmla="val 7272"/>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2159000"/>
            <a:ext cx="406400" cy="406400"/>
          </a:xfrm>
          <a:prstGeom prst="rect">
            <a:avLst/>
          </a:prstGeom>
        </p:spPr>
      </p:pic>
      <p:sp>
        <p:nvSpPr>
          <p:cNvPr id="7" name="AutoShape 7"/>
          <p:cNvSpPr/>
          <p:nvPr/>
        </p:nvSpPr>
        <p:spPr>
          <a:xfrm>
            <a:off x="7112000" y="2032000"/>
            <a:ext cx="4064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掩码多头自注意力 (Masked Multi-Head Self-Attention)</a:t>
            </a:r>
            <a:endParaRPr lang="en-US" sz="1100"/>
          </a:p>
          <a:p>
            <a:pPr indent="0" algn="l">
              <a:lnSpc>
                <a:spcPct val="108000"/>
              </a:lnSpc>
              <a:spcBef>
                <a:spcPts val="800"/>
              </a:spcBef>
            </a:pPr>
            <a:r>
              <a:rPr lang="en-US" sz="1200" b="0" i="0" u="none" strike="noStrike">
                <a:solidFill>
                  <a:srgbClr val="A78BFA"/>
                </a:solidFill>
                <a:latin typeface="Roboto Mono"/>
                <a:ea typeface="Roboto Mono"/>
                <a:cs typeface="Roboto Mono"/>
                <a:sym typeface="Roboto Mono"/>
              </a:rPr>
              <a:t>LayerNorm(x + MaskedMultiHeadAttention(x, x, x))</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确保预测第 t 个词时，只能看到前 t-1 个词，严格实现自回归生成逻辑。</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6223000" y="3556000"/>
            <a:ext cx="5207000" cy="1397000"/>
          </a:xfrm>
          <a:prstGeom prst="roundRect">
            <a:avLst>
              <a:gd name="adj" fmla="val 7272"/>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6477000" y="3810000"/>
            <a:ext cx="406400" cy="406400"/>
          </a:xfrm>
          <a:prstGeom prst="rect">
            <a:avLst/>
          </a:prstGeom>
        </p:spPr>
      </p:pic>
      <p:sp>
        <p:nvSpPr>
          <p:cNvPr id="10" name="AutoShape 10"/>
          <p:cNvSpPr/>
          <p:nvPr/>
        </p:nvSpPr>
        <p:spPr>
          <a:xfrm>
            <a:off x="7112000" y="3683000"/>
            <a:ext cx="4064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交叉注意力 (Cross-Attention)</a:t>
            </a:r>
            <a:endParaRPr lang="en-US" sz="1100"/>
          </a:p>
          <a:p>
            <a:pPr indent="0" algn="l">
              <a:lnSpc>
                <a:spcPct val="108000"/>
              </a:lnSpc>
              <a:spcBef>
                <a:spcPts val="800"/>
              </a:spcBef>
            </a:pPr>
            <a:r>
              <a:rPr lang="en-US" sz="1200" b="0" i="0" u="none" strike="noStrike">
                <a:solidFill>
                  <a:srgbClr val="34D399"/>
                </a:solidFill>
                <a:latin typeface="Roboto Mono"/>
                <a:ea typeface="Roboto Mono"/>
                <a:cs typeface="Roboto Mono"/>
                <a:sym typeface="Roboto Mono"/>
              </a:rPr>
              <a:t>LayerNorm(x + CrossAttention(x, enc_out, enc_out))</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Query来自 Decoder 隐层，Key/Value 来自 Encoder 输出，实现源语言与目标语言的语义对齐。</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6223000" y="5207000"/>
            <a:ext cx="5207000" cy="1397000"/>
          </a:xfrm>
          <a:prstGeom prst="roundRect">
            <a:avLst>
              <a:gd name="adj" fmla="val 7272"/>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6477000" y="5461000"/>
            <a:ext cx="406400" cy="406400"/>
          </a:xfrm>
          <a:prstGeom prst="rect">
            <a:avLst/>
          </a:prstGeom>
        </p:spPr>
      </p:pic>
      <p:sp>
        <p:nvSpPr>
          <p:cNvPr id="13" name="AutoShape 13"/>
          <p:cNvSpPr/>
          <p:nvPr/>
        </p:nvSpPr>
        <p:spPr>
          <a:xfrm>
            <a:off x="7112000" y="5334000"/>
            <a:ext cx="4064000" cy="1143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位置全连接前馈网络 (Position-wise FFN)</a:t>
            </a:r>
            <a:endParaRPr lang="en-US" sz="1100"/>
          </a:p>
          <a:p>
            <a:pPr indent="0" algn="l">
              <a:lnSpc>
                <a:spcPct val="108000"/>
              </a:lnSpc>
              <a:spcBef>
                <a:spcPts val="800"/>
              </a:spcBef>
            </a:pPr>
            <a:r>
              <a:rPr lang="en-US" sz="1200" b="0" i="0" u="none" strike="noStrike">
                <a:solidFill>
                  <a:srgbClr val="60A5FA"/>
                </a:solidFill>
                <a:latin typeface="Roboto Mono"/>
                <a:ea typeface="Roboto Mono"/>
                <a:cs typeface="Roboto Mono"/>
                <a:sym typeface="Roboto Mono"/>
              </a:rPr>
              <a:t>LayerNorm(x + FeedForward(x))</a:t>
            </a:r>
            <a:br>
              <a:rPr lang="en-US" sz="1600" b="0" i="0" u="none" strike="noStrike">
                <a:solidFill>
                  <a:srgbClr val="1F2329"/>
                </a:solidFill>
                <a:latin typeface="Noto Sans SC" panose="020B0200000000000000" charset="-122"/>
                <a:ea typeface="Noto Sans SC" panose="020B0200000000000000" charset="-122"/>
                <a:cs typeface="Noto Sans SC" panose="020B0200000000000000" charset="-122"/>
                <a:sym typeface="Noto Sans SC" panose="020B0200000000000000" charset="-122"/>
              </a:rPr>
            </a:b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与 Encoder 结构一致，通过两层线性变换与激活函数处理特征，增强模型表达能力。</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核心机制(1) - Scaled Dot-Product Attention</a:t>
            </a:r>
            <a:endParaRPr lang="en-US" sz="1100"/>
          </a:p>
        </p:txBody>
      </p:sp>
      <p:sp>
        <p:nvSpPr>
          <p:cNvPr id="4" name="AutoShape 4"/>
          <p:cNvSpPr/>
          <p:nvPr/>
        </p:nvSpPr>
        <p:spPr>
          <a:xfrm>
            <a:off x="762000" y="1651000"/>
            <a:ext cx="5207000" cy="1397000"/>
          </a:xfrm>
          <a:prstGeom prst="roundRect">
            <a:avLst>
              <a:gd name="adj" fmla="val 10909"/>
            </a:avLst>
          </a:prstGeom>
          <a:solidFill>
            <a:srgbClr val="312E81">
              <a:alpha val="90000"/>
            </a:srgbClr>
          </a:solidFill>
          <a:ln w="25400" cap="flat" cmpd="sng">
            <a:solidFill>
              <a:srgbClr val="A855F7">
                <a:alpha val="7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5" name="AutoShape 5"/>
          <p:cNvSpPr/>
          <p:nvPr/>
        </p:nvSpPr>
        <p:spPr>
          <a:xfrm>
            <a:off x="889000" y="1841500"/>
            <a:ext cx="4953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Attention(Q, K, V) = softmax(</a:t>
            </a:r>
            <a:r>
              <a:rPr lang="en-US" sz="1900" b="0" i="0" u="none" strike="noStrike">
                <a:solidFill>
                  <a:srgbClr val="F472B6"/>
                </a:solidFill>
                <a:latin typeface="Noto Sans SC" panose="020B0200000000000000" charset="-122"/>
                <a:ea typeface="Noto Sans SC" panose="020B0200000000000000" charset="-122"/>
                <a:cs typeface="Noto Sans SC" panose="020B0200000000000000" charset="-122"/>
                <a:sym typeface="Noto Sans SC" panose="020B0200000000000000" charset="-122"/>
              </a:rPr>
              <a:t>QKᵀ / √dₖ</a:t>
            </a:r>
            <a:r>
              <a:rPr lang="en-US" sz="19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V</a:t>
            </a:r>
            <a:endParaRPr lang="en-US" sz="1100"/>
          </a:p>
          <a:p>
            <a:pPr indent="0" algn="ctr">
              <a:lnSpc>
                <a:spcPct val="125000"/>
              </a:lnSpc>
            </a:pPr>
            <a:r>
              <a:rPr lang="en-US" sz="1300" b="0" i="0" u="none" strike="noStrike">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架构的核心原子单元</a:t>
            </a:r>
            <a:endParaRPr lang="en-US" sz="1300" b="0" i="0" u="none" strike="noStrike">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762000" y="3302000"/>
            <a:ext cx="2476500" cy="1460500"/>
          </a:xfrm>
          <a:prstGeom prst="roundRect">
            <a:avLst>
              <a:gd name="adj" fmla="val 6956"/>
            </a:avLst>
          </a:prstGeom>
          <a:solidFill>
            <a:srgbClr val="1E293B">
              <a:alpha val="85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914400" y="3454400"/>
            <a:ext cx="304800" cy="304800"/>
          </a:xfrm>
          <a:prstGeom prst="rect">
            <a:avLst/>
          </a:prstGeom>
        </p:spPr>
      </p:pic>
      <p:sp>
        <p:nvSpPr>
          <p:cNvPr id="8" name="AutoShape 8"/>
          <p:cNvSpPr/>
          <p:nvPr/>
        </p:nvSpPr>
        <p:spPr>
          <a:xfrm>
            <a:off x="1333500" y="3429000"/>
            <a:ext cx="177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01. 相似度计算 (QKᵀ)</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计算 Query 与 Key 的点积，得到原始的“匹配度”分数矩阵。</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3492500" y="3302000"/>
            <a:ext cx="2476500" cy="1460500"/>
          </a:xfrm>
          <a:prstGeom prst="roundRect">
            <a:avLst>
              <a:gd name="adj" fmla="val 6956"/>
            </a:avLst>
          </a:prstGeom>
          <a:solidFill>
            <a:srgbClr val="1E293B">
              <a:alpha val="85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p>
        </p:txBody>
      </p:sp>
      <p:pic>
        <p:nvPicPr>
          <p:cNvPr id="10" name="Picture 10"/>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644900" y="3454400"/>
            <a:ext cx="304800" cy="304800"/>
          </a:xfrm>
          <a:prstGeom prst="rect">
            <a:avLst/>
          </a:prstGeom>
        </p:spPr>
      </p:pic>
      <p:sp>
        <p:nvSpPr>
          <p:cNvPr id="11" name="AutoShape 11"/>
          <p:cNvSpPr/>
          <p:nvPr/>
        </p:nvSpPr>
        <p:spPr>
          <a:xfrm>
            <a:off x="4064000" y="3429000"/>
            <a:ext cx="177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02. 缩放因子 (1/√dₖ)</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防止高维向量下点积值过大，导致 Softmax 进入梯度饱和区。</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762000" y="4953000"/>
            <a:ext cx="2476500" cy="1460500"/>
          </a:xfrm>
          <a:prstGeom prst="roundRect">
            <a:avLst>
              <a:gd name="adj" fmla="val 6956"/>
            </a:avLst>
          </a:prstGeom>
          <a:solidFill>
            <a:srgbClr val="1E293B">
              <a:alpha val="85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914400" y="5105400"/>
            <a:ext cx="304800" cy="304800"/>
          </a:xfrm>
          <a:prstGeom prst="rect">
            <a:avLst/>
          </a:prstGeom>
        </p:spPr>
      </p:pic>
      <p:sp>
        <p:nvSpPr>
          <p:cNvPr id="14" name="AutoShape 14"/>
          <p:cNvSpPr/>
          <p:nvPr/>
        </p:nvSpPr>
        <p:spPr>
          <a:xfrm>
            <a:off x="1333500" y="5080000"/>
            <a:ext cx="177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03. 概率归一化 (Softmax)</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将所有分数映射到 0~1 区间并总和为1，形成注意力权重分布。</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5" name="AutoShape 15"/>
          <p:cNvSpPr/>
          <p:nvPr/>
        </p:nvSpPr>
        <p:spPr>
          <a:xfrm>
            <a:off x="3492500" y="4953000"/>
            <a:ext cx="2476500" cy="1460500"/>
          </a:xfrm>
          <a:prstGeom prst="roundRect">
            <a:avLst>
              <a:gd name="adj" fmla="val 6956"/>
            </a:avLst>
          </a:prstGeom>
          <a:solidFill>
            <a:srgbClr val="1E293B">
              <a:alpha val="85000"/>
            </a:srgbClr>
          </a:solidFill>
          <a:ln w="12700" cap="flat" cmpd="sng">
            <a:solidFill>
              <a:srgbClr val="475569">
                <a:alpha val="100000"/>
              </a:srgbClr>
            </a:solidFill>
            <a:prstDash val="solid"/>
            <a:round/>
          </a:ln>
        </p:spPr>
        <p:txBody>
          <a:bodyPr vert="horz" wrap="square" lIns="63500" tIns="63500" rIns="63500" bIns="63500" rtlCol="0" anchor="ctr"/>
          <a:lstStyle/>
          <a:p>
            <a:pPr algn="ctr">
              <a:defRPr/>
            </a:pPr>
          </a:p>
        </p:txBody>
      </p:sp>
      <p:pic>
        <p:nvPicPr>
          <p:cNvPr id="16" name="Picture 16"/>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3644900" y="5105400"/>
            <a:ext cx="304800" cy="304800"/>
          </a:xfrm>
          <a:prstGeom prst="rect">
            <a:avLst/>
          </a:prstGeom>
        </p:spPr>
      </p:pic>
      <p:sp>
        <p:nvSpPr>
          <p:cNvPr id="17" name="AutoShape 17"/>
          <p:cNvSpPr/>
          <p:nvPr/>
        </p:nvSpPr>
        <p:spPr>
          <a:xfrm>
            <a:off x="4064000" y="5080000"/>
            <a:ext cx="1778000" cy="1143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04. 加权聚合 (× V)</a:t>
            </a:r>
            <a:endParaRPr lang="en-US" sz="1100"/>
          </a:p>
          <a:p>
            <a:pPr indent="0" algn="l">
              <a:lnSpc>
                <a:spcPct val="108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用归一化后的权重对 Value 矩阵加权求和，得到最终输出。</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8" name="Picture 18"/>
          <p:cNvPicPr>
            <a:picLocks noChangeAspect="1"/>
          </p:cNvPicPr>
          <p:nvPr/>
        </p:nvPicPr>
        <p:blipFill>
          <a:blip r:embed="rId10"/>
          <a:srcRect t="26128" b="26128"/>
          <a:stretch>
            <a:fillRect/>
          </a:stretch>
        </p:blipFill>
        <p:spPr>
          <a:xfrm>
            <a:off x="6350000" y="1778000"/>
            <a:ext cx="5080000" cy="2921000"/>
          </a:xfrm>
          <a:prstGeom prst="rect">
            <a:avLst/>
          </a:prstGeom>
          <a:noFill/>
          <a:ln w="38100" cap="flat" cmpd="sng">
            <a:solidFill>
              <a:srgbClr val="FFFFFF">
                <a:alpha val="80000"/>
              </a:srgbClr>
            </a:solidFill>
            <a:prstDash val="solid"/>
            <a:round/>
          </a:ln>
          <a:effectLst>
            <a:outerShdw blurRad="444500" dist="190500" dir="2700000" algn="tl" rotWithShape="0">
              <a:srgbClr val="000000">
                <a:alpha val="25000"/>
              </a:srgbClr>
            </a:outerShdw>
          </a:effectLst>
        </p:spPr>
      </p:pic>
      <p:sp>
        <p:nvSpPr>
          <p:cNvPr id="19" name="AutoShape 19"/>
          <p:cNvSpPr/>
          <p:nvPr/>
        </p:nvSpPr>
        <p:spPr>
          <a:xfrm>
            <a:off x="6350000" y="4953000"/>
            <a:ext cx="5080000" cy="1460500"/>
          </a:xfrm>
          <a:prstGeom prst="roundRect">
            <a:avLst>
              <a:gd name="adj" fmla="val 10434"/>
            </a:avLst>
          </a:prstGeom>
          <a:gradFill rotWithShape="1">
            <a:gsLst>
              <a:gs pos="0">
                <a:srgbClr val="A855F7">
                  <a:alpha val="90000"/>
                </a:srgbClr>
              </a:gs>
              <a:gs pos="100000">
                <a:srgbClr val="7C3AED">
                  <a:alpha val="90000"/>
                </a:srgbClr>
              </a:gs>
            </a:gsLst>
            <a:lin ang="2700000"/>
          </a:gradFill>
          <a:ln w="25400" cap="flat" cmpd="sng">
            <a:no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pic>
        <p:nvPicPr>
          <p:cNvPr id="20" name="Picture 20"/>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6604000" y="5270500"/>
            <a:ext cx="508000" cy="508000"/>
          </a:xfrm>
          <a:prstGeom prst="rect">
            <a:avLst/>
          </a:prstGeom>
        </p:spPr>
      </p:pic>
      <p:sp>
        <p:nvSpPr>
          <p:cNvPr id="21" name="AutoShape 21"/>
          <p:cNvSpPr/>
          <p:nvPr/>
        </p:nvSpPr>
        <p:spPr>
          <a:xfrm>
            <a:off x="7366000" y="5143500"/>
            <a:ext cx="3810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通俗类比：搜索引擎</a:t>
            </a:r>
            <a:endParaRPr lang="en-US" sz="1100"/>
          </a:p>
          <a:p>
            <a:pPr indent="0" algn="l">
              <a:lnSpc>
                <a:spcPct val="117000"/>
              </a:lnSpc>
            </a:pPr>
            <a:r>
              <a:rPr lang="en-US" sz="1300" b="0" i="0" u="none" strike="noStrike">
                <a:solidFill>
                  <a:srgbClr val="EDE9FE"/>
                </a:solidFill>
                <a:latin typeface="Noto Sans SC" panose="020B0200000000000000" charset="-122"/>
                <a:ea typeface="Noto Sans SC" panose="020B0200000000000000" charset="-122"/>
                <a:cs typeface="Noto Sans SC" panose="020B0200000000000000" charset="-122"/>
                <a:sym typeface="Noto Sans SC" panose="020B0200000000000000" charset="-122"/>
              </a:rPr>
              <a:t>根据用户的搜索词 (Query) 匹配文档关键词 (Key)，再按匹配度对文档内容 (Value) 进行加权排序和摘要。</a:t>
            </a:r>
            <a:endParaRPr lang="en-US" sz="1300" b="0" i="0" u="none" strike="noStrike">
              <a:solidFill>
                <a:srgbClr val="EDE9FE"/>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核心机制(2) - Multi-Head Attention</a:t>
            </a:r>
            <a:endParaRPr lang="en-US" sz="1100"/>
          </a:p>
        </p:txBody>
      </p:sp>
      <p:pic>
        <p:nvPicPr>
          <p:cNvPr id="4" name="Picture 4"/>
          <p:cNvPicPr>
            <a:picLocks noChangeAspect="1"/>
          </p:cNvPicPr>
          <p:nvPr/>
        </p:nvPicPr>
        <p:blipFill>
          <a:blip r:embed="rId2"/>
          <a:srcRect l="7226" r="7226"/>
          <a:stretch>
            <a:fillRect/>
          </a:stretch>
        </p:blipFill>
        <p:spPr>
          <a:xfrm>
            <a:off x="762000" y="1778000"/>
            <a:ext cx="5080000" cy="4318000"/>
          </a:xfrm>
          <a:prstGeom prst="rect">
            <a:avLst/>
          </a:prstGeom>
          <a:noFill/>
          <a:ln w="25400" cap="flat" cmpd="sng">
            <a:solidFill>
              <a:srgbClr val="A855F7">
                <a:alpha val="5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6223000" y="1778000"/>
            <a:ext cx="5207000" cy="4318000"/>
          </a:xfrm>
          <a:prstGeom prst="roundRect">
            <a:avLst>
              <a:gd name="adj" fmla="val 3529"/>
            </a:avLst>
          </a:prstGeom>
          <a:solidFill>
            <a:srgbClr val="1F2937">
              <a:alpha val="95000"/>
            </a:srgbClr>
          </a:solidFill>
          <a:ln w="12700" cap="flat" cmpd="sng">
            <a:solidFill>
              <a:srgbClr val="A855F7">
                <a:alpha val="6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6" name="AutoShape 6"/>
          <p:cNvSpPr/>
          <p:nvPr/>
        </p:nvSpPr>
        <p:spPr>
          <a:xfrm>
            <a:off x="6477000" y="2032000"/>
            <a:ext cx="4699000" cy="10160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8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 核心思想</a:t>
            </a:r>
            <a:endParaRPr lang="en-US" sz="1100"/>
          </a:p>
          <a:p>
            <a:pPr indent="0" algn="l">
              <a:lnSpc>
                <a:spcPct val="117000"/>
              </a:lnSpc>
              <a:spcBef>
                <a:spcPts val="800"/>
              </a:spcBef>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将 Q, K, V 向量分别投影到多个不同的低维子空间中并行计算注意力，最后将所有“头”的计算结果拼接，以获得更丰富的特征表达。</a:t>
            </a:r>
            <a:endPar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7" name="AutoShape 7"/>
          <p:cNvSpPr/>
          <p:nvPr/>
        </p:nvSpPr>
        <p:spPr>
          <a:xfrm>
            <a:off x="6477000" y="3175000"/>
            <a:ext cx="4699000" cy="1206500"/>
          </a:xfrm>
          <a:prstGeom prst="roundRect">
            <a:avLst>
              <a:gd name="adj" fmla="val 8421"/>
            </a:avLst>
          </a:prstGeom>
          <a:solidFill>
            <a:srgbClr val="111827">
              <a:alpha val="100000"/>
            </a:srgbClr>
          </a:solidFill>
          <a:ln w="12700" cap="flat" cmpd="sng">
            <a:solidFill>
              <a:srgbClr val="4B5563">
                <a:alpha val="100000"/>
              </a:srgbClr>
            </a:solidFill>
            <a:prstDash val="solid"/>
            <a:round/>
          </a:ln>
        </p:spPr>
        <p:txBody>
          <a:bodyPr vert="horz" wrap="square" lIns="63500" tIns="63500" rIns="63500" bIns="63500" rtlCol="0" anchor="ctr"/>
          <a:lstStyle/>
          <a:p>
            <a:pPr algn="ctr">
              <a:defRPr/>
            </a:pPr>
          </a:p>
        </p:txBody>
      </p:sp>
      <p:sp>
        <p:nvSpPr>
          <p:cNvPr id="8" name="AutoShape 8"/>
          <p:cNvSpPr/>
          <p:nvPr/>
        </p:nvSpPr>
        <p:spPr>
          <a:xfrm>
            <a:off x="6604000" y="3302000"/>
            <a:ext cx="4445000" cy="1016000"/>
          </a:xfrm>
          <a:prstGeom prst="rect">
            <a:avLst/>
          </a:prstGeom>
          <a:noFill/>
          <a:ln w="12700" cap="flat" cmpd="sng">
            <a:noFill/>
            <a:prstDash val="solid"/>
            <a:round/>
          </a:ln>
        </p:spPr>
        <p:txBody>
          <a:bodyPr vert="horz" wrap="square" lIns="0" tIns="0" rIns="0" bIns="0" rtlCol="0" anchor="ctr" anchorCtr="0"/>
          <a:lstStyle/>
          <a:p>
            <a:pPr indent="0" algn="ctr">
              <a:lnSpc>
                <a:spcPct val="108000"/>
              </a:lnSpc>
              <a:defRPr/>
            </a:pPr>
            <a:r>
              <a:rPr lang="en-US" sz="1200" b="0" i="0" u="none" strike="noStrike">
                <a:solidFill>
                  <a:srgbClr val="D1D5DB"/>
                </a:solidFill>
                <a:latin typeface="Roboto Mono"/>
                <a:ea typeface="Roboto Mono"/>
                <a:cs typeface="Roboto Mono"/>
                <a:sym typeface="Roboto Mono"/>
              </a:rPr>
              <a:t>MultiHead(Q,K,V) = Concat(head₁, ..., headₕ)Wᴼ</a:t>
            </a:r>
            <a:endParaRPr lang="en-US" sz="1100"/>
          </a:p>
          <a:p>
            <a:pPr indent="0" algn="ctr">
              <a:lnSpc>
                <a:spcPct val="108000"/>
              </a:lnSpc>
            </a:pPr>
            <a:r>
              <a:rPr lang="en-US" sz="1200" b="0" i="0" u="none" strike="noStrike">
                <a:solidFill>
                  <a:srgbClr val="A855F7"/>
                </a:solidFill>
                <a:latin typeface="Roboto Mono"/>
                <a:ea typeface="Roboto Mono"/>
                <a:cs typeface="Roboto Mono"/>
                <a:sym typeface="Roboto Mono"/>
              </a:rPr>
              <a:t>headᵢ = Attention(QWᵢᴽ, KWᵢᴷ, VWᵢⱽ)</a:t>
            </a:r>
            <a:endParaRPr lang="en-US" sz="1200" b="0" i="0" u="none" strike="noStrike">
              <a:solidFill>
                <a:srgbClr val="A855F7"/>
              </a:solidFill>
              <a:latin typeface="Roboto Mono"/>
              <a:ea typeface="Roboto Mono"/>
              <a:cs typeface="Roboto Mono"/>
              <a:sym typeface="Roboto Mono"/>
            </a:endParaRPr>
          </a:p>
        </p:txBody>
      </p:sp>
      <p:pic>
        <p:nvPicPr>
          <p:cNvPr id="9" name="Picture 9"/>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6477000" y="4572000"/>
            <a:ext cx="304800" cy="304800"/>
          </a:xfrm>
          <a:prstGeom prst="rect">
            <a:avLst/>
          </a:prstGeom>
        </p:spPr>
      </p:pic>
      <p:sp>
        <p:nvSpPr>
          <p:cNvPr id="10" name="AutoShape 10"/>
          <p:cNvSpPr/>
          <p:nvPr/>
        </p:nvSpPr>
        <p:spPr>
          <a:xfrm>
            <a:off x="6921500" y="4546600"/>
            <a:ext cx="1905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捕捉多种关系</a:t>
            </a:r>
            <a:endParaRPr lang="en-US" sz="1100"/>
          </a:p>
          <a:p>
            <a:pPr indent="0" algn="l">
              <a:lnSpc>
                <a:spcPct val="108000"/>
              </a:lnSpc>
              <a:spcBef>
                <a:spcPts val="600"/>
              </a:spcBef>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不同注意力头可独立学习语法结构、语义关联、位置信息等多种类型的特征关系。</a:t>
            </a:r>
            <a:endPar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11" name="Picture 11"/>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8890000" y="4572000"/>
            <a:ext cx="304800" cy="304800"/>
          </a:xfrm>
          <a:prstGeom prst="rect">
            <a:avLst/>
          </a:prstGeom>
        </p:spPr>
      </p:pic>
      <p:sp>
        <p:nvSpPr>
          <p:cNvPr id="12" name="AutoShape 12"/>
          <p:cNvSpPr/>
          <p:nvPr/>
        </p:nvSpPr>
        <p:spPr>
          <a:xfrm>
            <a:off x="9334500" y="4546600"/>
            <a:ext cx="1905000" cy="1079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F3F4F6"/>
                </a:solidFill>
                <a:latin typeface="Noto Sans SC" panose="020B0200000000000000" charset="-122"/>
                <a:ea typeface="Noto Sans SC" panose="020B0200000000000000" charset="-122"/>
                <a:cs typeface="Noto Sans SC" panose="020B0200000000000000" charset="-122"/>
                <a:sym typeface="Noto Sans SC" panose="020B0200000000000000" charset="-122"/>
              </a:rPr>
              <a:t>提升模型容量</a:t>
            </a:r>
            <a:endParaRPr lang="en-US" sz="1100"/>
          </a:p>
          <a:p>
            <a:pPr indent="0" algn="l">
              <a:lnSpc>
                <a:spcPct val="108000"/>
              </a:lnSpc>
              <a:spcBef>
                <a:spcPts val="600"/>
              </a:spcBef>
            </a:pPr>
            <a:r>
              <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rPr>
              <a:t>在总计算量与参数量基本不变的前提下，显著增加了模型表示的灵活性与拟合能力。</a:t>
            </a:r>
            <a:endParaRPr lang="en-US" sz="1200" b="0" i="0" u="none" strike="noStrike">
              <a:solidFill>
                <a:srgbClr val="9CA3A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02. 核心机制(3) - 位置编码 (Positional Encoding)</a:t>
            </a:r>
            <a:endParaRPr lang="en-US" sz="1100"/>
          </a:p>
        </p:txBody>
      </p:sp>
      <p:pic>
        <p:nvPicPr>
          <p:cNvPr id="4" name="Picture 4"/>
          <p:cNvPicPr>
            <a:picLocks noChangeAspect="1"/>
          </p:cNvPicPr>
          <p:nvPr/>
        </p:nvPicPr>
        <p:blipFill>
          <a:blip r:embed="rId2"/>
          <a:srcRect t="8332" b="8332"/>
          <a:stretch>
            <a:fillRect/>
          </a:stretch>
        </p:blipFill>
        <p:spPr>
          <a:xfrm>
            <a:off x="762000" y="1778000"/>
            <a:ext cx="3302000" cy="4572000"/>
          </a:xfrm>
          <a:prstGeom prst="rect">
            <a:avLst/>
          </a:prstGeom>
          <a:noFill/>
          <a:ln w="25400" cap="flat" cmpd="sng">
            <a:solidFill>
              <a:srgbClr val="A855F7">
                <a:alpha val="60000"/>
              </a:srgbClr>
            </a:solidFill>
            <a:prstDash val="solid"/>
            <a:round/>
          </a:ln>
          <a:effectLst>
            <a:outerShdw blurRad="444500" dist="190500" dir="2700000" algn="tl" rotWithShape="0">
              <a:srgbClr val="000000">
                <a:alpha val="25000"/>
              </a:srgbClr>
            </a:outerShdw>
          </a:effectLst>
        </p:spPr>
      </p:pic>
      <p:sp>
        <p:nvSpPr>
          <p:cNvPr id="5" name="AutoShape 5"/>
          <p:cNvSpPr/>
          <p:nvPr/>
        </p:nvSpPr>
        <p:spPr>
          <a:xfrm>
            <a:off x="4445000" y="1778000"/>
            <a:ext cx="6985000" cy="1143000"/>
          </a:xfrm>
          <a:prstGeom prst="roundRect">
            <a:avLst>
              <a:gd name="adj" fmla="val 8888"/>
            </a:avLst>
          </a:prstGeom>
          <a:solidFill>
            <a:srgbClr val="1E293B">
              <a:alpha val="9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6" name="Picture 6"/>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35500" y="2032000"/>
            <a:ext cx="304800" cy="304800"/>
          </a:xfrm>
          <a:prstGeom prst="rect">
            <a:avLst/>
          </a:prstGeom>
        </p:spPr>
      </p:pic>
      <p:sp>
        <p:nvSpPr>
          <p:cNvPr id="7" name="AutoShape 7"/>
          <p:cNvSpPr/>
          <p:nvPr/>
        </p:nvSpPr>
        <p:spPr>
          <a:xfrm>
            <a:off x="5080000" y="1968500"/>
            <a:ext cx="6223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600" b="1" i="0" u="none" strike="noStrike">
                <a:solidFill>
                  <a:srgbClr val="F1F5F9"/>
                </a:solidFill>
                <a:latin typeface="Noto Sans SC" panose="020B0200000000000000" charset="-122"/>
                <a:ea typeface="Noto Sans SC" panose="020B0200000000000000" charset="-122"/>
                <a:cs typeface="Noto Sans SC" panose="020B0200000000000000" charset="-122"/>
                <a:sym typeface="Noto Sans SC" panose="020B0200000000000000" charset="-122"/>
              </a:rPr>
              <a:t>问题根源：自注意力的“置换等变性”</a:t>
            </a:r>
            <a:endParaRPr lang="en-US" sz="1100"/>
          </a:p>
          <a:p>
            <a:pPr indent="0" algn="l">
              <a:lnSpc>
                <a:spcPct val="108000"/>
              </a:lnSpc>
            </a:pPr>
            <a:r>
              <a:rPr lang="en-US" sz="13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标准的自注意力机制不依赖序列中元素的顺序，无论输入顺序如何打乱，计算结果保持一致。为了让模型感知序列的时序信息，必须显式地注入位置信号。</a:t>
            </a:r>
            <a:endParaRPr lang="en-US" sz="13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3111500"/>
            <a:ext cx="6985000" cy="1460500"/>
          </a:xfrm>
          <a:prstGeom prst="roundRect">
            <a:avLst>
              <a:gd name="adj" fmla="val 6956"/>
            </a:avLst>
          </a:prstGeom>
          <a:solidFill>
            <a:srgbClr val="1E293B">
              <a:alpha val="9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35500" y="3365500"/>
            <a:ext cx="304800" cy="304800"/>
          </a:xfrm>
          <a:prstGeom prst="rect">
            <a:avLst/>
          </a:prstGeom>
        </p:spPr>
      </p:pic>
      <p:sp>
        <p:nvSpPr>
          <p:cNvPr id="10" name="AutoShape 10"/>
          <p:cNvSpPr/>
          <p:nvPr/>
        </p:nvSpPr>
        <p:spPr>
          <a:xfrm>
            <a:off x="5080000" y="3238500"/>
            <a:ext cx="6223000" cy="1206500"/>
          </a:xfrm>
          <a:prstGeom prst="rect">
            <a:avLst/>
          </a:prstGeom>
          <a:noFill/>
          <a:ln w="12700" cap="flat" cmpd="sng">
            <a:noFill/>
            <a:prstDash val="solid"/>
            <a:round/>
          </a:ln>
        </p:spPr>
        <p:txBody>
          <a:bodyPr vert="horz" wrap="square" lIns="0" tIns="0" rIns="0" bIns="0" rtlCol="0" anchor="ctr" anchorCtr="0"/>
          <a:lstStyle/>
          <a:p>
            <a:pPr indent="0" algn="l">
              <a:lnSpc>
                <a:spcPct val="100000"/>
              </a:lnSpc>
              <a:defRPr/>
            </a:pPr>
            <a:r>
              <a:rPr lang="en-US" sz="1600" b="1" i="0" u="none" strike="noStrike">
                <a:solidFill>
                  <a:srgbClr val="F1F5F9"/>
                </a:solidFill>
                <a:latin typeface="Noto Sans SC" panose="020B0200000000000000" charset="-122"/>
                <a:ea typeface="Noto Sans SC" panose="020B0200000000000000" charset="-122"/>
                <a:cs typeface="Noto Sans SC" panose="020B0200000000000000" charset="-122"/>
                <a:sym typeface="Noto Sans SC" panose="020B0200000000000000" charset="-122"/>
              </a:rPr>
              <a:t>论文方案：经典的正弦-余弦编码</a:t>
            </a:r>
            <a:endParaRPr lang="en-US" sz="1100"/>
          </a:p>
          <a:p>
            <a:pPr indent="0" algn="l">
              <a:lnSpc>
                <a:spcPct val="117000"/>
              </a:lnSpc>
            </a:pPr>
            <a:r>
              <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偶数维度：PE(pos, 2i) = sin(pos / 10000^(2i/d_model)) | 奇数维度：PE(pos, 2i+1) = cos(pos / 10000^(2i/d_model))</a:t>
            </a:r>
            <a:endPar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4445000" y="4699000"/>
            <a:ext cx="2159000" cy="1270000"/>
          </a:xfrm>
          <a:prstGeom prst="roundRect">
            <a:avLst>
              <a:gd name="adj" fmla="val 8000"/>
            </a:avLst>
          </a:prstGeom>
          <a:solidFill>
            <a:srgbClr val="1E293B">
              <a:alpha val="95000"/>
            </a:srgbClr>
          </a:solidFill>
          <a:ln w="12700" cap="flat" cmpd="sng">
            <a:solidFill>
              <a:srgbClr val="A855F7">
                <a:alpha val="20000"/>
              </a:srgbClr>
            </a:solidFill>
            <a:prstDash val="solid"/>
            <a:round/>
          </a:ln>
        </p:spPr>
        <p:txBody>
          <a:bodyPr vert="horz" wrap="square" lIns="63500" tIns="63500" rIns="63500" bIns="63500" rtlCol="0" anchor="ctr"/>
          <a:lstStyle/>
          <a:p>
            <a:pPr algn="ctr">
              <a:defRPr/>
            </a:pPr>
          </a:p>
        </p:txBody>
      </p:sp>
      <p:pic>
        <p:nvPicPr>
          <p:cNvPr id="12" name="Picture 12"/>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572000" y="4889500"/>
            <a:ext cx="254000" cy="254000"/>
          </a:xfrm>
          <a:prstGeom prst="rect">
            <a:avLst/>
          </a:prstGeom>
        </p:spPr>
      </p:pic>
      <p:sp>
        <p:nvSpPr>
          <p:cNvPr id="13" name="AutoShape 13"/>
          <p:cNvSpPr/>
          <p:nvPr/>
        </p:nvSpPr>
        <p:spPr>
          <a:xfrm>
            <a:off x="4953000" y="4826000"/>
            <a:ext cx="152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多尺度感知</a:t>
            </a:r>
            <a:endParaRPr lang="en-US" sz="1100"/>
          </a:p>
          <a:p>
            <a:pPr indent="0" algn="l">
              <a:lnSpc>
                <a:spcPct val="100000"/>
              </a:lnSpc>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波长呈几何级数增长，可同时捕捉序列的局部精细结构与全局长程依赖。</a:t>
            </a:r>
            <a:endPar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6858000" y="4699000"/>
            <a:ext cx="2159000" cy="1270000"/>
          </a:xfrm>
          <a:prstGeom prst="roundRect">
            <a:avLst>
              <a:gd name="adj" fmla="val 8000"/>
            </a:avLst>
          </a:prstGeom>
          <a:solidFill>
            <a:srgbClr val="1E293B">
              <a:alpha val="95000"/>
            </a:srgbClr>
          </a:solidFill>
          <a:ln w="12700" cap="flat" cmpd="sng">
            <a:solidFill>
              <a:srgbClr val="A855F7">
                <a:alpha val="20000"/>
              </a:srgbClr>
            </a:solidFill>
            <a:prstDash val="solid"/>
            <a:round/>
          </a:ln>
        </p:spPr>
        <p:txBody>
          <a:bodyPr vert="horz" wrap="square" lIns="63500" tIns="63500" rIns="63500" bIns="63500" rtlCol="0" anchor="ctr"/>
          <a:lstStyle/>
          <a:p>
            <a:pPr algn="ctr">
              <a:defRPr/>
            </a:pPr>
          </a:p>
        </p:txBody>
      </p:sp>
      <p:pic>
        <p:nvPicPr>
          <p:cNvPr id="15" name="Picture 15"/>
          <p:cNvPicPr>
            <a:picLocks noChangeAspect="1"/>
          </p:cNvPicPr>
          <p:nvPr/>
        </p:nvPicPr>
        <p:blipFill>
          <a:blip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p:blipFill>
        <p:spPr>
          <a:xfrm>
            <a:off x="6985000" y="4889500"/>
            <a:ext cx="254000" cy="254000"/>
          </a:xfrm>
          <a:prstGeom prst="rect">
            <a:avLst/>
          </a:prstGeom>
        </p:spPr>
      </p:pic>
      <p:sp>
        <p:nvSpPr>
          <p:cNvPr id="16" name="AutoShape 16"/>
          <p:cNvSpPr/>
          <p:nvPr/>
        </p:nvSpPr>
        <p:spPr>
          <a:xfrm>
            <a:off x="7366000" y="4826000"/>
            <a:ext cx="152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相对位置编码</a:t>
            </a:r>
            <a:endParaRPr lang="en-US" sz="1100"/>
          </a:p>
          <a:p>
            <a:pPr indent="0" algn="l">
              <a:lnSpc>
                <a:spcPct val="100000"/>
              </a:lnSpc>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PE(pos+k) 可表示为 PE(pos) 的线性函数，使模型能高效学习单词间的相对位置关系。</a:t>
            </a:r>
            <a:endPar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7" name="AutoShape 17"/>
          <p:cNvSpPr/>
          <p:nvPr/>
        </p:nvSpPr>
        <p:spPr>
          <a:xfrm>
            <a:off x="9271000" y="4699000"/>
            <a:ext cx="2159000" cy="1270000"/>
          </a:xfrm>
          <a:prstGeom prst="roundRect">
            <a:avLst>
              <a:gd name="adj" fmla="val 8000"/>
            </a:avLst>
          </a:prstGeom>
          <a:solidFill>
            <a:srgbClr val="1E293B">
              <a:alpha val="95000"/>
            </a:srgbClr>
          </a:solidFill>
          <a:ln w="12700" cap="flat" cmpd="sng">
            <a:solidFill>
              <a:srgbClr val="A855F7">
                <a:alpha val="20000"/>
              </a:srgbClr>
            </a:solidFill>
            <a:prstDash val="solid"/>
            <a:round/>
          </a:ln>
        </p:spPr>
        <p:txBody>
          <a:bodyPr vert="horz" wrap="square" lIns="63500" tIns="63500" rIns="63500" bIns="63500" rtlCol="0" anchor="ctr"/>
          <a:lstStyle/>
          <a:p>
            <a:pPr algn="ctr">
              <a:defRPr/>
            </a:pPr>
          </a:p>
        </p:txBody>
      </p:sp>
      <p:pic>
        <p:nvPicPr>
          <p:cNvPr id="18" name="Picture 18"/>
          <p:cNvPicPr>
            <a:picLocks noChangeAspect="1"/>
          </p:cNvPicPr>
          <p:nvPr/>
        </p:nvPicPr>
        <p:blipFill>
          <a:blip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p:blipFill>
        <p:spPr>
          <a:xfrm>
            <a:off x="9398000" y="4889500"/>
            <a:ext cx="254000" cy="254000"/>
          </a:xfrm>
          <a:prstGeom prst="rect">
            <a:avLst/>
          </a:prstGeom>
        </p:spPr>
      </p:pic>
      <p:sp>
        <p:nvSpPr>
          <p:cNvPr id="19" name="AutoShape 19"/>
          <p:cNvSpPr/>
          <p:nvPr/>
        </p:nvSpPr>
        <p:spPr>
          <a:xfrm>
            <a:off x="9779000" y="4826000"/>
            <a:ext cx="1524000" cy="1016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4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无限外推能力</a:t>
            </a:r>
            <a:endParaRPr lang="en-US" sz="1100"/>
          </a:p>
          <a:p>
            <a:pPr indent="0" algn="l">
              <a:lnSpc>
                <a:spcPct val="100000"/>
              </a:lnSpc>
            </a:pPr>
            <a:r>
              <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基于数学函数生成，无需重新训练，可直接处理比训练集更长的任意长度序列。</a:t>
            </a:r>
            <a:endParaRPr lang="en-US" sz="11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4445000" y="6159500"/>
            <a:ext cx="6985000" cy="571500"/>
          </a:xfrm>
          <a:prstGeom prst="roundRect">
            <a:avLst>
              <a:gd name="adj" fmla="val 22222"/>
            </a:avLst>
          </a:prstGeom>
          <a:solidFill>
            <a:srgbClr val="A855F7">
              <a:alpha val="20000"/>
            </a:srgbClr>
          </a:solidFill>
          <a:ln w="12700" cap="flat" cmpd="sng">
            <a:solidFill>
              <a:srgbClr val="A855F7">
                <a:alpha val="80000"/>
              </a:srgbClr>
            </a:solidFill>
            <a:prstDash val="solid"/>
            <a:round/>
          </a:ln>
        </p:spPr>
        <p:txBody>
          <a:bodyPr vert="horz" wrap="square" lIns="63500" tIns="63500" rIns="63500" bIns="63500" rtlCol="0" anchor="ctr"/>
          <a:lstStyle/>
          <a:p>
            <a:pPr algn="ctr">
              <a:defRPr/>
            </a:pPr>
          </a:p>
        </p:txBody>
      </p:sp>
      <p:sp>
        <p:nvSpPr>
          <p:cNvPr id="21" name="AutoShape 21"/>
          <p:cNvSpPr/>
          <p:nvPr/>
        </p:nvSpPr>
        <p:spPr>
          <a:xfrm>
            <a:off x="4572000" y="6223000"/>
            <a:ext cx="6731000" cy="444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 注入方式：将位置编码向量与词嵌入向量进行 逐元素相加 (Element-wise Addition)</a:t>
            </a:r>
            <a:endParaRPr lang="en-US" sz="110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 范式之争：Transformer vs. RNN/LSTM</a:t>
            </a:r>
            <a:endParaRPr lang="en-US" sz="1100"/>
          </a:p>
        </p:txBody>
      </p:sp>
      <p:sp>
        <p:nvSpPr>
          <p:cNvPr id="4" name="AutoShape 4"/>
          <p:cNvSpPr/>
          <p:nvPr/>
        </p:nvSpPr>
        <p:spPr>
          <a:xfrm>
            <a:off x="762000" y="1651000"/>
            <a:ext cx="5207000" cy="4699000"/>
          </a:xfrm>
          <a:prstGeom prst="roundRect">
            <a:avLst>
              <a:gd name="adj" fmla="val 3243"/>
            </a:avLst>
          </a:prstGeom>
          <a:solidFill>
            <a:srgbClr val="1E293B">
              <a:alpha val="92000"/>
            </a:srgbClr>
          </a:solidFill>
          <a:ln w="12700" cap="flat" cmpd="sng">
            <a:solidFill>
              <a:srgbClr val="64748B">
                <a:alpha val="10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905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RNN / LSTM</a:t>
            </a:r>
            <a:r>
              <a:rPr lang="en-US" sz="14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 传统串行序列建模</a:t>
            </a:r>
            <a:endParaRPr lang="en-US" sz="1100"/>
          </a:p>
        </p:txBody>
      </p:sp>
      <p:sp>
        <p:nvSpPr>
          <p:cNvPr id="6" name="AutoShape 6"/>
          <p:cNvSpPr/>
          <p:nvPr/>
        </p:nvSpPr>
        <p:spPr>
          <a:xfrm>
            <a:off x="952500" y="2667000"/>
            <a:ext cx="4826000" cy="635000"/>
          </a:xfrm>
          <a:prstGeom prst="roundRect">
            <a:avLst>
              <a:gd name="adj" fmla="val 16000"/>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7" name="AutoShape 7"/>
          <p:cNvSpPr/>
          <p:nvPr/>
        </p:nvSpPr>
        <p:spPr>
          <a:xfrm>
            <a:off x="1079500" y="2730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7DD3FC"/>
                </a:solidFill>
                <a:latin typeface="Noto Sans SC" panose="020B0200000000000000" charset="-122"/>
                <a:ea typeface="Noto Sans SC" panose="020B0200000000000000" charset="-122"/>
                <a:cs typeface="Noto Sans SC" panose="020B0200000000000000" charset="-122"/>
                <a:sym typeface="Noto Sans SC" panose="020B0200000000000000" charset="-122"/>
              </a:rPr>
              <a:t>🧮 计算范式：</a:t>
            </a: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状态转移函数，严格串行处理</a:t>
            </a:r>
            <a:endParaRPr lang="en-US" sz="1100"/>
          </a:p>
        </p:txBody>
      </p:sp>
      <p:sp>
        <p:nvSpPr>
          <p:cNvPr id="8" name="AutoShape 8"/>
          <p:cNvSpPr/>
          <p:nvPr/>
        </p:nvSpPr>
        <p:spPr>
          <a:xfrm>
            <a:off x="952500" y="3429000"/>
            <a:ext cx="4826000" cy="635000"/>
          </a:xfrm>
          <a:prstGeom prst="roundRect">
            <a:avLst>
              <a:gd name="adj" fmla="val 16000"/>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9" name="AutoShape 9"/>
          <p:cNvSpPr/>
          <p:nvPr/>
        </p:nvSpPr>
        <p:spPr>
          <a:xfrm>
            <a:off x="1079500" y="3492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87171"/>
                </a:solidFill>
                <a:latin typeface="Noto Sans SC" panose="020B0200000000000000" charset="-122"/>
                <a:ea typeface="Noto Sans SC" panose="020B0200000000000000" charset="-122"/>
                <a:cs typeface="Noto Sans SC" panose="020B0200000000000000" charset="-122"/>
                <a:sym typeface="Noto Sans SC" panose="020B0200000000000000" charset="-122"/>
              </a:rPr>
              <a:t>🔄 并行能力：</a:t>
            </a: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无 (依赖前序状态，无法并行计算)</a:t>
            </a:r>
            <a:endParaRPr lang="en-US" sz="1100"/>
          </a:p>
        </p:txBody>
      </p:sp>
      <p:sp>
        <p:nvSpPr>
          <p:cNvPr id="10" name="AutoShape 10"/>
          <p:cNvSpPr/>
          <p:nvPr/>
        </p:nvSpPr>
        <p:spPr>
          <a:xfrm>
            <a:off x="952500" y="4191000"/>
            <a:ext cx="4826000" cy="635000"/>
          </a:xfrm>
          <a:prstGeom prst="roundRect">
            <a:avLst>
              <a:gd name="adj" fmla="val 16000"/>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1" name="AutoShape 11"/>
          <p:cNvSpPr/>
          <p:nvPr/>
        </p:nvSpPr>
        <p:spPr>
          <a:xfrm>
            <a:off x="1079500" y="4254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FB923C"/>
                </a:solidFill>
                <a:latin typeface="Noto Sans SC" panose="020B0200000000000000" charset="-122"/>
                <a:ea typeface="Noto Sans SC" panose="020B0200000000000000" charset="-122"/>
                <a:cs typeface="Noto Sans SC" panose="020B0200000000000000" charset="-122"/>
                <a:sym typeface="Noto Sans SC" panose="020B0200000000000000" charset="-122"/>
              </a:rPr>
              <a:t>🔗 长距依赖：</a:t>
            </a:r>
            <a:r>
              <a:rPr lang="en-US" sz="13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较差 (存在梯度消失/爆炸风险)</a:t>
            </a:r>
            <a:endParaRPr lang="en-US" sz="1100"/>
          </a:p>
        </p:txBody>
      </p:sp>
      <p:sp>
        <p:nvSpPr>
          <p:cNvPr id="12" name="AutoShape 12"/>
          <p:cNvSpPr/>
          <p:nvPr/>
        </p:nvSpPr>
        <p:spPr>
          <a:xfrm>
            <a:off x="952500" y="5080000"/>
            <a:ext cx="1524000" cy="1079500"/>
          </a:xfrm>
          <a:prstGeom prst="roundRect">
            <a:avLst>
              <a:gd name="adj" fmla="val 9411"/>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3" name="AutoShape 13"/>
          <p:cNvSpPr/>
          <p:nvPr/>
        </p:nvSpPr>
        <p:spPr>
          <a:xfrm>
            <a:off x="1016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训练速度</a:t>
            </a:r>
            <a:endParaRPr lang="en-US" sz="1100"/>
          </a:p>
          <a:p>
            <a:pPr indent="0" algn="l">
              <a:lnSpc>
                <a:spcPct val="125000"/>
              </a:lnSpc>
            </a:pPr>
            <a:r>
              <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慢 (难利用GPU)</a:t>
            </a:r>
            <a:endPar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4" name="AutoShape 14"/>
          <p:cNvSpPr/>
          <p:nvPr/>
        </p:nvSpPr>
        <p:spPr>
          <a:xfrm>
            <a:off x="2603500" y="5080000"/>
            <a:ext cx="1524000" cy="1079500"/>
          </a:xfrm>
          <a:prstGeom prst="roundRect">
            <a:avLst>
              <a:gd name="adj" fmla="val 9411"/>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5" name="AutoShape 15"/>
          <p:cNvSpPr/>
          <p:nvPr/>
        </p:nvSpPr>
        <p:spPr>
          <a:xfrm>
            <a:off x="2667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rPr>
              <a:t>📐 归纳偏置</a:t>
            </a:r>
            <a:endParaRPr lang="en-US" sz="1100"/>
          </a:p>
          <a:p>
            <a:pPr indent="0" algn="l">
              <a:lnSpc>
                <a:spcPct val="125000"/>
              </a:lnSpc>
            </a:pPr>
            <a:r>
              <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强 (内置顺序先验)</a:t>
            </a:r>
            <a:endPar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4254500" y="5080000"/>
            <a:ext cx="1524000" cy="1079500"/>
          </a:xfrm>
          <a:prstGeom prst="roundRect">
            <a:avLst>
              <a:gd name="adj" fmla="val 9411"/>
            </a:avLst>
          </a:prstGeom>
          <a:solidFill>
            <a:srgbClr val="334155">
              <a:alpha val="10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4318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A78BFA"/>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可解释性</a:t>
            </a:r>
            <a:endParaRPr lang="en-US" sz="1100"/>
          </a:p>
          <a:p>
            <a:pPr indent="0" algn="l">
              <a:lnSpc>
                <a:spcPct val="125000"/>
              </a:lnSpc>
            </a:pPr>
            <a:r>
              <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rPr>
              <a:t>差 (黑盒状态流转)</a:t>
            </a:r>
            <a:endParaRPr lang="en-US" sz="1200" b="0" i="0" u="none" strike="noStrike">
              <a:solidFill>
                <a:srgbClr val="CBD5E1"/>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6223000" y="1651000"/>
            <a:ext cx="5207000" cy="4699000"/>
          </a:xfrm>
          <a:prstGeom prst="roundRect">
            <a:avLst>
              <a:gd name="adj" fmla="val 3243"/>
            </a:avLst>
          </a:prstGeom>
          <a:solidFill>
            <a:srgbClr val="1E293B">
              <a:alpha val="95000"/>
            </a:srgbClr>
          </a:solidFill>
          <a:ln w="25400" cap="flat" cmpd="sng">
            <a:solidFill>
              <a:srgbClr val="A855F7">
                <a:alpha val="100000"/>
              </a:srgbClr>
            </a:solidFill>
            <a:prstDash val="solid"/>
            <a:round/>
          </a:ln>
          <a:effectLst>
            <a:outerShdw blurRad="444500" dist="190500" dir="2700000" algn="tl" rotWithShape="0">
              <a:srgbClr val="000000">
                <a:alpha val="25000"/>
              </a:srgbClr>
            </a:outerShdw>
          </a:effectLst>
        </p:spPr>
        <p:txBody>
          <a:bodyPr vert="horz" wrap="square" lIns="63500" tIns="63500" rIns="63500" bIns="63500" rtlCol="0" anchor="ctr"/>
          <a:lstStyle/>
          <a:p>
            <a:pPr algn="ctr">
              <a:defRPr/>
            </a:pPr>
          </a:p>
        </p:txBody>
      </p:sp>
      <p:sp>
        <p:nvSpPr>
          <p:cNvPr id="19" name="AutoShape 19"/>
          <p:cNvSpPr/>
          <p:nvPr/>
        </p:nvSpPr>
        <p:spPr>
          <a:xfrm>
            <a:off x="6477000" y="1905000"/>
            <a:ext cx="4699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C084FC"/>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a:t>
            </a:r>
            <a:r>
              <a:rPr lang="en-US" sz="1400" b="0" i="0"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 现代并行注意力模型</a:t>
            </a:r>
            <a:endParaRPr lang="en-US" sz="1100"/>
          </a:p>
        </p:txBody>
      </p:sp>
      <p:sp>
        <p:nvSpPr>
          <p:cNvPr id="20" name="AutoShape 20"/>
          <p:cNvSpPr/>
          <p:nvPr/>
        </p:nvSpPr>
        <p:spPr>
          <a:xfrm>
            <a:off x="6413500" y="2667000"/>
            <a:ext cx="4826000" cy="635000"/>
          </a:xfrm>
          <a:prstGeom prst="roundRect">
            <a:avLst>
              <a:gd name="adj" fmla="val 16000"/>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540500" y="2730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879F9"/>
                </a:solidFill>
                <a:latin typeface="Noto Sans SC" panose="020B0200000000000000" charset="-122"/>
                <a:ea typeface="Noto Sans SC" panose="020B0200000000000000" charset="-122"/>
                <a:cs typeface="Noto Sans SC" panose="020B0200000000000000" charset="-122"/>
                <a:sym typeface="Noto Sans SC" panose="020B0200000000000000" charset="-122"/>
              </a:rPr>
              <a:t>🧩 计算范式：</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集合加权聚合函数，完全并行计算</a:t>
            </a:r>
            <a:endParaRPr lang="en-US" sz="1100"/>
          </a:p>
        </p:txBody>
      </p:sp>
      <p:sp>
        <p:nvSpPr>
          <p:cNvPr id="22" name="AutoShape 22"/>
          <p:cNvSpPr/>
          <p:nvPr/>
        </p:nvSpPr>
        <p:spPr>
          <a:xfrm>
            <a:off x="6413500" y="3429000"/>
            <a:ext cx="4826000" cy="635000"/>
          </a:xfrm>
          <a:prstGeom prst="roundRect">
            <a:avLst>
              <a:gd name="adj" fmla="val 16000"/>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6540500" y="3492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4ADE80"/>
                </a:solidFill>
                <a:latin typeface="Noto Sans SC" panose="020B0200000000000000" charset="-122"/>
                <a:ea typeface="Noto Sans SC" panose="020B0200000000000000" charset="-122"/>
                <a:cs typeface="Noto Sans SC" panose="020B0200000000000000" charset="-122"/>
                <a:sym typeface="Noto Sans SC" panose="020B0200000000000000" charset="-122"/>
              </a:rPr>
              <a:t>⚡ 并行能力：</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完全并行 (算力利用率最大化)</a:t>
            </a:r>
            <a:endParaRPr lang="en-US" sz="1100"/>
          </a:p>
        </p:txBody>
      </p:sp>
      <p:sp>
        <p:nvSpPr>
          <p:cNvPr id="24" name="AutoShape 24"/>
          <p:cNvSpPr/>
          <p:nvPr/>
        </p:nvSpPr>
        <p:spPr>
          <a:xfrm>
            <a:off x="6413500" y="4191000"/>
            <a:ext cx="4826000" cy="635000"/>
          </a:xfrm>
          <a:prstGeom prst="roundRect">
            <a:avLst>
              <a:gd name="adj" fmla="val 16000"/>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25" name="AutoShape 25"/>
          <p:cNvSpPr/>
          <p:nvPr/>
        </p:nvSpPr>
        <p:spPr>
          <a:xfrm>
            <a:off x="6540500" y="42545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60A5FA"/>
                </a:solidFill>
                <a:latin typeface="Noto Sans SC" panose="020B0200000000000000" charset="-122"/>
                <a:ea typeface="Noto Sans SC" panose="020B0200000000000000" charset="-122"/>
                <a:cs typeface="Noto Sans SC" panose="020B0200000000000000" charset="-122"/>
                <a:sym typeface="Noto Sans SC" panose="020B0200000000000000" charset="-122"/>
              </a:rPr>
              <a:t>🔗 长距依赖：</a:t>
            </a: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优秀 (O(1) 直接路径连接任意位置)</a:t>
            </a:r>
            <a:endParaRPr lang="en-US" sz="1100"/>
          </a:p>
        </p:txBody>
      </p:sp>
      <p:sp>
        <p:nvSpPr>
          <p:cNvPr id="26" name="AutoShape 26"/>
          <p:cNvSpPr/>
          <p:nvPr/>
        </p:nvSpPr>
        <p:spPr>
          <a:xfrm>
            <a:off x="6413500" y="5080000"/>
            <a:ext cx="1524000" cy="1079500"/>
          </a:xfrm>
          <a:prstGeom prst="roundRect">
            <a:avLst>
              <a:gd name="adj" fmla="val 9411"/>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27" name="AutoShape 27"/>
          <p:cNvSpPr/>
          <p:nvPr/>
        </p:nvSpPr>
        <p:spPr>
          <a:xfrm>
            <a:off x="6477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 训练速度</a:t>
            </a:r>
            <a:endParaRPr lang="en-US" sz="1100"/>
          </a:p>
          <a:p>
            <a:pPr indent="0" algn="l">
              <a:lnSpc>
                <a:spcPct val="125000"/>
              </a:lnSpc>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极快 (适配GPU集群)</a:t>
            </a:r>
            <a:endPar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8" name="AutoShape 28"/>
          <p:cNvSpPr/>
          <p:nvPr/>
        </p:nvSpPr>
        <p:spPr>
          <a:xfrm>
            <a:off x="8064500" y="5080000"/>
            <a:ext cx="1524000" cy="1079500"/>
          </a:xfrm>
          <a:prstGeom prst="roundRect">
            <a:avLst>
              <a:gd name="adj" fmla="val 9411"/>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29" name="AutoShape 29"/>
          <p:cNvSpPr/>
          <p:nvPr/>
        </p:nvSpPr>
        <p:spPr>
          <a:xfrm>
            <a:off x="8128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 归纳偏置</a:t>
            </a:r>
            <a:endParaRPr lang="en-US" sz="1100"/>
          </a:p>
          <a:p>
            <a:pPr indent="0" algn="l">
              <a:lnSpc>
                <a:spcPct val="125000"/>
              </a:lnSpc>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弱 (位置外挂/通用性强)</a:t>
            </a:r>
            <a:endPar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30" name="AutoShape 30"/>
          <p:cNvSpPr/>
          <p:nvPr/>
        </p:nvSpPr>
        <p:spPr>
          <a:xfrm>
            <a:off x="9715500" y="5080000"/>
            <a:ext cx="1524000" cy="1079500"/>
          </a:xfrm>
          <a:prstGeom prst="roundRect">
            <a:avLst>
              <a:gd name="adj" fmla="val 9411"/>
            </a:avLst>
          </a:prstGeom>
          <a:solidFill>
            <a:srgbClr val="581C87">
              <a:alpha val="40000"/>
            </a:srgbClr>
          </a:solidFill>
          <a:ln w="25400" cap="flat" cmpd="sng">
            <a:noFill/>
            <a:prstDash val="solid"/>
            <a:round/>
          </a:ln>
        </p:spPr>
        <p:txBody>
          <a:bodyPr vert="horz" wrap="square" lIns="63500" tIns="63500" rIns="63500" bIns="63500" rtlCol="0" anchor="ctr"/>
          <a:lstStyle/>
          <a:p>
            <a:pPr algn="ctr">
              <a:defRPr/>
            </a:pPr>
          </a:p>
        </p:txBody>
      </p:sp>
      <p:sp>
        <p:nvSpPr>
          <p:cNvPr id="31" name="AutoShape 31"/>
          <p:cNvSpPr/>
          <p:nvPr/>
        </p:nvSpPr>
        <p:spPr>
          <a:xfrm>
            <a:off x="9779000" y="5207000"/>
            <a:ext cx="13970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200" b="1" i="0" u="none" strike="noStrike">
                <a:solidFill>
                  <a:srgbClr val="FBBF24"/>
                </a:solidFill>
                <a:latin typeface="Noto Sans SC" panose="020B0200000000000000" charset="-122"/>
                <a:ea typeface="Noto Sans SC" panose="020B0200000000000000" charset="-122"/>
                <a:cs typeface="Noto Sans SC" panose="020B0200000000000000" charset="-122"/>
                <a:sym typeface="Noto Sans SC" panose="020B0200000000000000" charset="-122"/>
              </a:rPr>
              <a:t>🔍 可解释性</a:t>
            </a:r>
            <a:endParaRPr lang="en-US" sz="1100"/>
          </a:p>
          <a:p>
            <a:pPr indent="0" algn="l">
              <a:lnSpc>
                <a:spcPct val="125000"/>
              </a:lnSpc>
            </a:pPr>
            <a:r>
              <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较好 (注意力权重可视化)</a:t>
            </a:r>
            <a:endParaRPr lang="en-US" sz="1200" b="0"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571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弱归纳偏置：是缺陷还是优势？</a:t>
            </a:r>
            <a:endParaRPr lang="en-US" sz="1100"/>
          </a:p>
        </p:txBody>
      </p:sp>
      <p:sp>
        <p:nvSpPr>
          <p:cNvPr id="4" name="AutoShape 4"/>
          <p:cNvSpPr/>
          <p:nvPr/>
        </p:nvSpPr>
        <p:spPr>
          <a:xfrm>
            <a:off x="762000" y="1651000"/>
            <a:ext cx="5207000" cy="1651000"/>
          </a:xfrm>
          <a:prstGeom prst="roundRect">
            <a:avLst>
              <a:gd name="adj" fmla="val 9230"/>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16000" y="1841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传统观点：强归纳偏置是“护城河”</a:t>
            </a:r>
            <a:endParaRPr lang="en-US" sz="1100"/>
          </a:p>
          <a:p>
            <a:pPr indent="0" algn="l">
              <a:lnSpc>
                <a:spcPct val="117000"/>
              </a:lnSpc>
              <a:spcBef>
                <a:spcPts val="8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如 CNN 的局部性、RNN 的顺序性，在数据量有限时，这些人工设计的先验是极其重要的正则化手段，能有效防止过拟合并加速收敛。</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6" name="AutoShape 6"/>
          <p:cNvSpPr/>
          <p:nvPr/>
        </p:nvSpPr>
        <p:spPr>
          <a:xfrm>
            <a:off x="6223000" y="1651000"/>
            <a:ext cx="5207000" cy="1651000"/>
          </a:xfrm>
          <a:prstGeom prst="roundRect">
            <a:avLst>
              <a:gd name="adj" fmla="val 9230"/>
            </a:avLst>
          </a:prstGeom>
          <a:solidFill>
            <a:srgbClr val="1E293B">
              <a:alpha val="85000"/>
            </a:srgbClr>
          </a:solidFill>
          <a:ln w="12700" cap="flat" cmpd="sng">
            <a:solidFill>
              <a:srgbClr val="A855F7">
                <a:alpha val="30000"/>
              </a:srgbClr>
            </a:solidFill>
            <a:prstDash val="solid"/>
            <a:round/>
          </a:ln>
        </p:spPr>
        <p:txBody>
          <a:bodyPr vert="horz" wrap="square" lIns="63500" tIns="63500" rIns="63500" bIns="63500" rtlCol="0" anchor="ctr"/>
          <a:lstStyle/>
          <a:p>
            <a:pPr algn="ctr">
              <a:defRPr/>
            </a:pPr>
          </a:p>
        </p:txBody>
      </p:sp>
      <p:sp>
        <p:nvSpPr>
          <p:cNvPr id="7" name="AutoShape 7"/>
          <p:cNvSpPr/>
          <p:nvPr/>
        </p:nvSpPr>
        <p:spPr>
          <a:xfrm>
            <a:off x="6477000" y="1841500"/>
            <a:ext cx="4699000" cy="1270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8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证明：弱偏置是“万能钥匙”</a:t>
            </a:r>
            <a:endParaRPr lang="en-US" sz="1100"/>
          </a:p>
          <a:p>
            <a:pPr indent="0" algn="l">
              <a:lnSpc>
                <a:spcPct val="117000"/>
              </a:lnSpc>
              <a:spcBef>
                <a:spcPts val="800"/>
              </a:spcBef>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当数据量足够大时，从数据中自学习的结构 &gt; 人工先验。这种策略带来了巨大的红利——即强大的</a:t>
            </a:r>
            <a:r>
              <a:rPr lang="en-US" sz="13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跨模态泛化能力</a:t>
            </a: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pic>
        <p:nvPicPr>
          <p:cNvPr id="8" name="Picture 8"/>
          <p:cNvPicPr>
            <a:picLocks noChangeAspect="1"/>
          </p:cNvPicPr>
          <p:nvPr/>
        </p:nvPicPr>
        <p:blipFill>
          <a:blip r:embed="rId2"/>
          <a:srcRect l="1466" r="1466"/>
          <a:stretch>
            <a:fillRect/>
          </a:stretch>
        </p:blipFill>
        <p:spPr>
          <a:xfrm>
            <a:off x="762000" y="3556000"/>
            <a:ext cx="3302000" cy="1905000"/>
          </a:xfrm>
          <a:prstGeom prst="roundRect">
            <a:avLst>
              <a:gd name="adj" fmla="val 5333"/>
            </a:avLst>
          </a:prstGeom>
          <a:noFill/>
          <a:ln w="12700" cap="flat" cmpd="sng">
            <a:solidFill>
              <a:srgbClr val="A855F7">
                <a:alpha val="60000"/>
              </a:srgbClr>
            </a:solidFill>
            <a:prstDash val="solid"/>
            <a:round/>
          </a:ln>
        </p:spPr>
      </p:pic>
      <p:sp>
        <p:nvSpPr>
          <p:cNvPr id="9" name="AutoShape 9"/>
          <p:cNvSpPr/>
          <p:nvPr/>
        </p:nvSpPr>
        <p:spPr>
          <a:xfrm>
            <a:off x="762000" y="5080000"/>
            <a:ext cx="3302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图像领域 · ViT (Vision Transformer)</a:t>
            </a:r>
            <a:endParaRPr lang="en-US" sz="1100"/>
          </a:p>
        </p:txBody>
      </p:sp>
      <p:sp>
        <p:nvSpPr>
          <p:cNvPr id="10" name="AutoShape 10"/>
          <p:cNvSpPr/>
          <p:nvPr/>
        </p:nvSpPr>
        <p:spPr>
          <a:xfrm>
            <a:off x="4445000" y="3556000"/>
            <a:ext cx="3302000" cy="1905000"/>
          </a:xfrm>
          <a:prstGeom prst="roundRect">
            <a:avLst>
              <a:gd name="adj" fmla="val 8000"/>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pic>
        <p:nvPicPr>
          <p:cNvPr id="11" name="Picture 11"/>
          <p:cNvPicPr>
            <a:picLocks noChangeAspect="1"/>
          </p:cNvPicPr>
          <p:nvPr/>
        </p:nvPicPr>
        <p:blipFill>
          <a:blip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p:blipFill>
        <p:spPr>
          <a:xfrm>
            <a:off x="4699000" y="3810000"/>
            <a:ext cx="254000" cy="254000"/>
          </a:xfrm>
          <a:prstGeom prst="rect">
            <a:avLst/>
          </a:prstGeom>
        </p:spPr>
      </p:pic>
      <p:sp>
        <p:nvSpPr>
          <p:cNvPr id="12" name="AutoShape 12"/>
          <p:cNvSpPr/>
          <p:nvPr/>
        </p:nvSpPr>
        <p:spPr>
          <a:xfrm>
            <a:off x="5080000" y="3784600"/>
            <a:ext cx="241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文本:</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BERT, GPT 系列模型</a:t>
            </a:r>
            <a:endParaRPr lang="en-US" sz="1100"/>
          </a:p>
        </p:txBody>
      </p:sp>
      <p:pic>
        <p:nvPicPr>
          <p:cNvPr id="13" name="Picture 13"/>
          <p:cNvPicPr>
            <a:picLocks noChangeAspect="1"/>
          </p:cNvPicPr>
          <p:nvPr/>
        </p:nvPicPr>
        <p:blipFill>
          <a:blip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p:blipFill>
        <p:spPr>
          <a:xfrm>
            <a:off x="4699000" y="4445000"/>
            <a:ext cx="254000" cy="254000"/>
          </a:xfrm>
          <a:prstGeom prst="rect">
            <a:avLst/>
          </a:prstGeom>
        </p:spPr>
      </p:pic>
      <p:sp>
        <p:nvSpPr>
          <p:cNvPr id="14" name="AutoShape 14"/>
          <p:cNvSpPr/>
          <p:nvPr/>
        </p:nvSpPr>
        <p:spPr>
          <a:xfrm>
            <a:off x="5080000" y="4419600"/>
            <a:ext cx="241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语音/代码:</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Conformer, Codex</a:t>
            </a:r>
            <a:endParaRPr lang="en-US" sz="1100"/>
          </a:p>
        </p:txBody>
      </p:sp>
      <p:pic>
        <p:nvPicPr>
          <p:cNvPr id="15" name="Picture 15"/>
          <p:cNvPicPr>
            <a:picLocks noChangeAspect="1"/>
          </p:cNvPicPr>
          <p:nvPr/>
        </p:nvPicPr>
        <p:blipFill>
          <a:blip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p:blipFill>
        <p:spPr>
          <a:xfrm>
            <a:off x="4699000" y="5016500"/>
            <a:ext cx="254000" cy="254000"/>
          </a:xfrm>
          <a:prstGeom prst="rect">
            <a:avLst/>
          </a:prstGeom>
        </p:spPr>
      </p:pic>
      <p:sp>
        <p:nvSpPr>
          <p:cNvPr id="16" name="AutoShape 16"/>
          <p:cNvSpPr/>
          <p:nvPr/>
        </p:nvSpPr>
        <p:spPr>
          <a:xfrm>
            <a:off x="5080000" y="4991100"/>
            <a:ext cx="2413000" cy="317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1"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核心能力:</a:t>
            </a: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端到端、自注意力机制</a:t>
            </a:r>
            <a:endParaRPr lang="en-US" sz="1100"/>
          </a:p>
        </p:txBody>
      </p:sp>
      <p:pic>
        <p:nvPicPr>
          <p:cNvPr id="17" name="Picture 17"/>
          <p:cNvPicPr>
            <a:picLocks noChangeAspect="1"/>
          </p:cNvPicPr>
          <p:nvPr/>
        </p:nvPicPr>
        <p:blipFill>
          <a:blip r:embed="rId9"/>
          <a:srcRect t="17682" b="17682"/>
          <a:stretch>
            <a:fillRect/>
          </a:stretch>
        </p:blipFill>
        <p:spPr>
          <a:xfrm>
            <a:off x="8128000" y="3556000"/>
            <a:ext cx="3302000" cy="1905000"/>
          </a:xfrm>
          <a:prstGeom prst="roundRect">
            <a:avLst>
              <a:gd name="adj" fmla="val 5333"/>
            </a:avLst>
          </a:prstGeom>
          <a:noFill/>
          <a:ln w="12700" cap="flat" cmpd="sng">
            <a:solidFill>
              <a:srgbClr val="A855F7">
                <a:alpha val="60000"/>
              </a:srgbClr>
            </a:solidFill>
            <a:prstDash val="solid"/>
            <a:round/>
          </a:ln>
        </p:spPr>
      </p:pic>
      <p:sp>
        <p:nvSpPr>
          <p:cNvPr id="18" name="AutoShape 18"/>
          <p:cNvSpPr/>
          <p:nvPr/>
        </p:nvSpPr>
        <p:spPr>
          <a:xfrm>
            <a:off x="8128000" y="5080000"/>
            <a:ext cx="3302000" cy="3175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3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科学发现 · AlphaFold 2 (蛋白质折叠)</a:t>
            </a:r>
            <a:endParaRPr lang="en-US" sz="1100"/>
          </a:p>
        </p:txBody>
      </p:sp>
      <p:sp>
        <p:nvSpPr>
          <p:cNvPr id="19" name="AutoShape 19"/>
          <p:cNvSpPr/>
          <p:nvPr/>
        </p:nvSpPr>
        <p:spPr>
          <a:xfrm>
            <a:off x="762000" y="5651500"/>
            <a:ext cx="10668000" cy="952500"/>
          </a:xfrm>
          <a:prstGeom prst="roundRect">
            <a:avLst>
              <a:gd name="adj" fmla="val 10666"/>
            </a:avLst>
          </a:prstGeom>
          <a:solidFill>
            <a:srgbClr val="A855F7">
              <a:alpha val="90000"/>
            </a:srgbClr>
          </a:solidFill>
          <a:ln w="25400" cap="flat" cmpd="sng">
            <a:noFill/>
            <a:prstDash val="solid"/>
            <a:round/>
          </a:ln>
        </p:spPr>
        <p:txBody>
          <a:bodyPr vert="horz" wrap="square" lIns="63500" tIns="63500" rIns="63500" bIns="63500" rtlCol="0" anchor="ctr"/>
          <a:lstStyle/>
          <a:p>
            <a:pPr algn="ctr">
              <a:defRPr/>
            </a:pPr>
          </a:p>
        </p:txBody>
      </p:sp>
      <p:sp>
        <p:nvSpPr>
          <p:cNvPr id="20" name="AutoShape 20"/>
          <p:cNvSpPr/>
          <p:nvPr/>
        </p:nvSpPr>
        <p:spPr>
          <a:xfrm>
            <a:off x="1016000" y="5842000"/>
            <a:ext cx="10160000" cy="5715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5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结论：Transformer 的通用性正源于其“对输入结构不做先验假设”，使其成为一个真正强大的通用学习器。</a:t>
            </a:r>
            <a:endParaRPr lang="en-US" sz="110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 Transformer的深远影响：一个范式的诞生</a:t>
            </a:r>
            <a:endParaRPr lang="en-US" sz="1100"/>
          </a:p>
        </p:txBody>
      </p:sp>
      <p:sp>
        <p:nvSpPr>
          <p:cNvPr id="4" name="AutoShape 4"/>
          <p:cNvSpPr/>
          <p:nvPr/>
        </p:nvSpPr>
        <p:spPr>
          <a:xfrm>
            <a:off x="762000" y="1778000"/>
            <a:ext cx="5207000" cy="4572000"/>
          </a:xfrm>
          <a:prstGeom prst="roundRect">
            <a:avLst>
              <a:gd name="adj" fmla="val 3333"/>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5" name="AutoShape 5"/>
          <p:cNvSpPr/>
          <p:nvPr/>
        </p:nvSpPr>
        <p:spPr>
          <a:xfrm>
            <a:off x="1066800" y="20828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核心理论贡献</a:t>
            </a:r>
            <a:endParaRPr lang="en-US" sz="1100"/>
          </a:p>
        </p:txBody>
      </p:sp>
      <p:sp>
        <p:nvSpPr>
          <p:cNvPr id="6" name="AutoShape 6"/>
          <p:cNvSpPr/>
          <p:nvPr/>
        </p:nvSpPr>
        <p:spPr>
          <a:xfrm>
            <a:off x="1066800" y="2667000"/>
            <a:ext cx="508000" cy="508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p>
        </p:txBody>
      </p:sp>
      <p:pic>
        <p:nvPicPr>
          <p:cNvPr id="7" name="Picture 7"/>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66800" y="3175000"/>
            <a:ext cx="406400" cy="406400"/>
          </a:xfrm>
          <a:prstGeom prst="rect">
            <a:avLst/>
          </a:prstGeom>
        </p:spPr>
      </p:pic>
      <p:sp>
        <p:nvSpPr>
          <p:cNvPr id="8" name="AutoShape 8"/>
          <p:cNvSpPr/>
          <p:nvPr/>
        </p:nvSpPr>
        <p:spPr>
          <a:xfrm>
            <a:off x="1651000" y="31496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打破序列模型的桎梏，证明了</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纯注意力架构</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完全可超越循环神经网络(RNN)。</a:t>
            </a:r>
            <a:endParaRPr lang="en-US" sz="1100"/>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1066800" y="4191000"/>
            <a:ext cx="406400" cy="406400"/>
          </a:xfrm>
          <a:prstGeom prst="rect">
            <a:avLst/>
          </a:prstGeom>
        </p:spPr>
      </p:pic>
      <p:sp>
        <p:nvSpPr>
          <p:cNvPr id="10" name="AutoShape 10"/>
          <p:cNvSpPr/>
          <p:nvPr/>
        </p:nvSpPr>
        <p:spPr>
          <a:xfrm>
            <a:off x="1651000" y="4165600"/>
            <a:ext cx="3937000" cy="762000"/>
          </a:xfrm>
          <a:prstGeom prst="rect">
            <a:avLst/>
          </a:prstGeom>
          <a:noFill/>
          <a:ln w="12700" cap="flat" cmpd="sng">
            <a:noFill/>
            <a:prstDash val="solid"/>
            <a:round/>
          </a:ln>
        </p:spPr>
        <p:txBody>
          <a:bodyPr vert="horz" wrap="square" lIns="0" tIns="0" rIns="0" bIns="0" rtlCol="0" anchor="ctr" anchorCtr="0"/>
          <a:lstStyle/>
          <a:p>
            <a:pPr indent="0" algn="l">
              <a:lnSpc>
                <a:spcPct val="108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提出了</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Scaled Dot-Product Attention</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机制，解决了内积随维度增大导致梯度不稳定的问题。</a:t>
            </a:r>
            <a:endParaRPr lang="en-US" sz="1100"/>
          </a:p>
        </p:txBody>
      </p:sp>
      <p:pic>
        <p:nvPicPr>
          <p:cNvPr id="11" name="Picture 11"/>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1066800" y="5207000"/>
            <a:ext cx="406400" cy="406400"/>
          </a:xfrm>
          <a:prstGeom prst="rect">
            <a:avLst/>
          </a:prstGeom>
        </p:spPr>
      </p:pic>
      <p:sp>
        <p:nvSpPr>
          <p:cNvPr id="12" name="AutoShape 12"/>
          <p:cNvSpPr/>
          <p:nvPr/>
        </p:nvSpPr>
        <p:spPr>
          <a:xfrm>
            <a:off x="1651000" y="5181600"/>
            <a:ext cx="3937000" cy="1016000"/>
          </a:xfrm>
          <a:prstGeom prst="rect">
            <a:avLst/>
          </a:prstGeom>
          <a:noFill/>
          <a:ln w="12700" cap="flat" cmpd="sng">
            <a:noFill/>
            <a:prstDash val="solid"/>
            <a:round/>
          </a:ln>
        </p:spPr>
        <p:txBody>
          <a:bodyPr vert="horz" wrap="square" lIns="0" tIns="0" rIns="0" bIns="0" rtlCol="0" anchor="ctr" anchorCtr="0"/>
          <a:lstStyle/>
          <a:p>
            <a:pPr indent="0" algn="l">
              <a:lnSpc>
                <a:spcPct val="117000"/>
              </a:lnSpc>
              <a:defRPr/>
            </a:pP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系统化设计了</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多头注意力 (Multi-Head Attention)</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并将</a:t>
            </a:r>
            <a:r>
              <a:rPr lang="en-US" sz="14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位置编码</a:t>
            </a:r>
            <a:r>
              <a:rPr lang="en-US" sz="14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作为独立组件解耦，极大提升了模型的表达能力。</a:t>
            </a:r>
            <a:endParaRPr lang="en-US" sz="1100"/>
          </a:p>
        </p:txBody>
      </p:sp>
      <p:sp>
        <p:nvSpPr>
          <p:cNvPr id="13" name="AutoShape 13"/>
          <p:cNvSpPr/>
          <p:nvPr/>
        </p:nvSpPr>
        <p:spPr>
          <a:xfrm>
            <a:off x="6223000" y="1778000"/>
            <a:ext cx="5207000" cy="4572000"/>
          </a:xfrm>
          <a:prstGeom prst="roundRect">
            <a:avLst>
              <a:gd name="adj" fmla="val 3333"/>
            </a:avLst>
          </a:prstGeom>
          <a:solidFill>
            <a:srgbClr val="1E293B">
              <a:alpha val="90000"/>
            </a:srgbClr>
          </a:solidFill>
          <a:ln w="12700" cap="flat" cmpd="sng">
            <a:solidFill>
              <a:srgbClr val="A855F7">
                <a:alpha val="40000"/>
              </a:srgbClr>
            </a:solidFill>
            <a:prstDash val="solid"/>
            <a:round/>
          </a:ln>
        </p:spPr>
        <p:txBody>
          <a:bodyPr vert="horz" wrap="square" lIns="63500" tIns="63500" rIns="63500" bIns="63500" rtlCol="0" anchor="ctr"/>
          <a:lstStyle/>
          <a:p>
            <a:pPr algn="ctr">
              <a:defRPr/>
            </a:pPr>
          </a:p>
        </p:txBody>
      </p:sp>
      <p:sp>
        <p:nvSpPr>
          <p:cNvPr id="14" name="AutoShape 14"/>
          <p:cNvSpPr/>
          <p:nvPr/>
        </p:nvSpPr>
        <p:spPr>
          <a:xfrm>
            <a:off x="6527800" y="2082800"/>
            <a:ext cx="4572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2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开启的时代与领域突破</a:t>
            </a:r>
            <a:endParaRPr lang="en-US" sz="1100"/>
          </a:p>
        </p:txBody>
      </p:sp>
      <p:sp>
        <p:nvSpPr>
          <p:cNvPr id="15" name="AutoShape 15"/>
          <p:cNvSpPr/>
          <p:nvPr/>
        </p:nvSpPr>
        <p:spPr>
          <a:xfrm>
            <a:off x="6527800" y="2667000"/>
            <a:ext cx="508000" cy="50800"/>
          </a:xfrm>
          <a:prstGeom prst="roundRect">
            <a:avLst>
              <a:gd name="adj" fmla="val 0"/>
            </a:avLst>
          </a:prstGeom>
          <a:solidFill>
            <a:srgbClr val="A855F7">
              <a:alpha val="100000"/>
            </a:srgbClr>
          </a:solidFill>
          <a:ln w="25400" cap="flat" cmpd="sng">
            <a:noFill/>
            <a:prstDash val="solid"/>
            <a:round/>
          </a:ln>
        </p:spPr>
        <p:txBody>
          <a:bodyPr vert="horz" wrap="square" lIns="63500" tIns="63500" rIns="63500" bIns="63500" rtlCol="0" anchor="ctr"/>
          <a:lstStyle/>
          <a:p>
            <a:pPr algn="ctr">
              <a:defRPr/>
            </a:pPr>
          </a:p>
        </p:txBody>
      </p:sp>
      <p:sp>
        <p:nvSpPr>
          <p:cNvPr id="16" name="AutoShape 16"/>
          <p:cNvSpPr/>
          <p:nvPr/>
        </p:nvSpPr>
        <p:spPr>
          <a:xfrm>
            <a:off x="6527800" y="3048000"/>
            <a:ext cx="2286000" cy="1524000"/>
          </a:xfrm>
          <a:prstGeom prst="roundRect">
            <a:avLst>
              <a:gd name="adj" fmla="val 6666"/>
            </a:avLst>
          </a:prstGeom>
          <a:solidFill>
            <a:srgbClr val="374151">
              <a:alpha val="70000"/>
            </a:srgbClr>
          </a:solidFill>
          <a:ln w="25400" cap="flat" cmpd="sng">
            <a:noFill/>
            <a:prstDash val="solid"/>
            <a:round/>
          </a:ln>
        </p:spPr>
        <p:txBody>
          <a:bodyPr vert="horz" wrap="square" lIns="63500" tIns="63500" rIns="63500" bIns="63500" rtlCol="0" anchor="ctr"/>
          <a:lstStyle/>
          <a:p>
            <a:pPr algn="ctr">
              <a:defRPr/>
            </a:pPr>
          </a:p>
        </p:txBody>
      </p:sp>
      <p:pic>
        <p:nvPicPr>
          <p:cNvPr id="17" name="Picture 17"/>
          <p:cNvPicPr>
            <a:picLocks noChangeAspect="1"/>
          </p:cNvPicPr>
          <p:nvPr/>
        </p:nvPicPr>
        <p:blipFill>
          <a:blip r:embed="rId8">
            <a:extLst>
              <a:ext uri="{28A0092B-C50C-407E-A947-70E740481C1C}">
                <a14:useLocalDpi xmlns:a14="http://schemas.microsoft.com/office/drawing/2010/main" val="0"/>
              </a:ext>
              <a:ext uri="{96DAC541-7B7A-43D3-8B79-37D633B846F1}">
                <asvg:svgBlip xmlns:asvg="http://schemas.microsoft.com/office/drawing/2016/SVG/main" r:embed="rId9"/>
              </a:ext>
            </a:extLst>
          </a:blip>
          <a:stretch>
            <a:fillRect/>
          </a:stretch>
        </p:blipFill>
        <p:spPr>
          <a:xfrm>
            <a:off x="6654800" y="3238500"/>
            <a:ext cx="304800" cy="304800"/>
          </a:xfrm>
          <a:prstGeom prst="rect">
            <a:avLst/>
          </a:prstGeom>
        </p:spPr>
      </p:pic>
      <p:sp>
        <p:nvSpPr>
          <p:cNvPr id="18" name="AutoShape 18"/>
          <p:cNvSpPr/>
          <p:nvPr/>
        </p:nvSpPr>
        <p:spPr>
          <a:xfrm>
            <a:off x="7048500" y="3200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NLP 自然语言</a:t>
            </a:r>
            <a:endParaRPr lang="en-US" sz="1100"/>
          </a:p>
        </p:txBody>
      </p:sp>
      <p:sp>
        <p:nvSpPr>
          <p:cNvPr id="19" name="AutoShape 19"/>
          <p:cNvSpPr/>
          <p:nvPr/>
        </p:nvSpPr>
        <p:spPr>
          <a:xfrm>
            <a:off x="6654800" y="3810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BERT, GPT 系列, T5</a:t>
            </a:r>
            <a:endParaRPr lang="en-US" sz="1100"/>
          </a:p>
        </p:txBody>
      </p:sp>
      <p:sp>
        <p:nvSpPr>
          <p:cNvPr id="20" name="AutoShape 20"/>
          <p:cNvSpPr/>
          <p:nvPr/>
        </p:nvSpPr>
        <p:spPr>
          <a:xfrm>
            <a:off x="8890000" y="3048000"/>
            <a:ext cx="2286000" cy="1524000"/>
          </a:xfrm>
          <a:prstGeom prst="roundRect">
            <a:avLst>
              <a:gd name="adj" fmla="val 6666"/>
            </a:avLst>
          </a:prstGeom>
          <a:solidFill>
            <a:srgbClr val="374151">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1" name="Picture 21"/>
          <p:cNvPicPr>
            <a:picLocks noChangeAspect="1"/>
          </p:cNvPicPr>
          <p:nvPr/>
        </p:nvPicPr>
        <p:blipFill>
          <a:blip r:embed="rId10">
            <a:extLst>
              <a:ext uri="{28A0092B-C50C-407E-A947-70E740481C1C}">
                <a14:useLocalDpi xmlns:a14="http://schemas.microsoft.com/office/drawing/2010/main" val="0"/>
              </a:ext>
              <a:ext uri="{96DAC541-7B7A-43D3-8B79-37D633B846F1}">
                <asvg:svgBlip xmlns:asvg="http://schemas.microsoft.com/office/drawing/2016/SVG/main" r:embed="rId11"/>
              </a:ext>
            </a:extLst>
          </a:blip>
          <a:stretch>
            <a:fillRect/>
          </a:stretch>
        </p:blipFill>
        <p:spPr>
          <a:xfrm>
            <a:off x="9017000" y="3238500"/>
            <a:ext cx="304800" cy="304800"/>
          </a:xfrm>
          <a:prstGeom prst="rect">
            <a:avLst/>
          </a:prstGeom>
        </p:spPr>
      </p:pic>
      <p:sp>
        <p:nvSpPr>
          <p:cNvPr id="22" name="AutoShape 22"/>
          <p:cNvSpPr/>
          <p:nvPr/>
        </p:nvSpPr>
        <p:spPr>
          <a:xfrm>
            <a:off x="9398000" y="3200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CV 计算机视觉</a:t>
            </a:r>
            <a:endParaRPr lang="en-US" sz="1100"/>
          </a:p>
        </p:txBody>
      </p:sp>
      <p:sp>
        <p:nvSpPr>
          <p:cNvPr id="23" name="AutoShape 23"/>
          <p:cNvSpPr/>
          <p:nvPr/>
        </p:nvSpPr>
        <p:spPr>
          <a:xfrm>
            <a:off x="9017000" y="3810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ViT (Vision Transformer) 等视觉大模型</a:t>
            </a:r>
            <a:endParaRPr lang="en-US" sz="1100"/>
          </a:p>
        </p:txBody>
      </p:sp>
      <p:sp>
        <p:nvSpPr>
          <p:cNvPr id="24" name="AutoShape 24"/>
          <p:cNvSpPr/>
          <p:nvPr/>
        </p:nvSpPr>
        <p:spPr>
          <a:xfrm>
            <a:off x="6527800" y="4699000"/>
            <a:ext cx="2286000" cy="1524000"/>
          </a:xfrm>
          <a:prstGeom prst="roundRect">
            <a:avLst>
              <a:gd name="adj" fmla="val 6666"/>
            </a:avLst>
          </a:prstGeom>
          <a:solidFill>
            <a:srgbClr val="374151">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5" name="Picture 25"/>
          <p:cNvPicPr>
            <a:picLocks noChangeAspect="1"/>
          </p:cNvPicPr>
          <p:nvPr/>
        </p:nvPicPr>
        <p:blipFill>
          <a:blip r:embed="rId12">
            <a:extLst>
              <a:ext uri="{28A0092B-C50C-407E-A947-70E740481C1C}">
                <a14:useLocalDpi xmlns:a14="http://schemas.microsoft.com/office/drawing/2010/main" val="0"/>
              </a:ext>
              <a:ext uri="{96DAC541-7B7A-43D3-8B79-37D633B846F1}">
                <asvg:svgBlip xmlns:asvg="http://schemas.microsoft.com/office/drawing/2016/SVG/main" r:embed="rId13"/>
              </a:ext>
            </a:extLst>
          </a:blip>
          <a:stretch>
            <a:fillRect/>
          </a:stretch>
        </p:blipFill>
        <p:spPr>
          <a:xfrm>
            <a:off x="6654800" y="4889500"/>
            <a:ext cx="304800" cy="304800"/>
          </a:xfrm>
          <a:prstGeom prst="rect">
            <a:avLst/>
          </a:prstGeom>
        </p:spPr>
      </p:pic>
      <p:sp>
        <p:nvSpPr>
          <p:cNvPr id="26" name="AutoShape 26"/>
          <p:cNvSpPr/>
          <p:nvPr/>
        </p:nvSpPr>
        <p:spPr>
          <a:xfrm>
            <a:off x="7048500" y="4851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多模态融合</a:t>
            </a:r>
            <a:endParaRPr lang="en-US" sz="1100"/>
          </a:p>
        </p:txBody>
      </p:sp>
      <p:sp>
        <p:nvSpPr>
          <p:cNvPr id="27" name="AutoShape 27"/>
          <p:cNvSpPr/>
          <p:nvPr/>
        </p:nvSpPr>
        <p:spPr>
          <a:xfrm>
            <a:off x="6654800" y="5461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CLIP, DALL·E, Midjourney</a:t>
            </a:r>
            <a:endParaRPr lang="en-US" sz="1100"/>
          </a:p>
        </p:txBody>
      </p:sp>
      <p:sp>
        <p:nvSpPr>
          <p:cNvPr id="28" name="AutoShape 28"/>
          <p:cNvSpPr/>
          <p:nvPr/>
        </p:nvSpPr>
        <p:spPr>
          <a:xfrm>
            <a:off x="8890000" y="4699000"/>
            <a:ext cx="2286000" cy="1524000"/>
          </a:xfrm>
          <a:prstGeom prst="roundRect">
            <a:avLst>
              <a:gd name="adj" fmla="val 6666"/>
            </a:avLst>
          </a:prstGeom>
          <a:solidFill>
            <a:srgbClr val="374151">
              <a:alpha val="70000"/>
            </a:srgbClr>
          </a:solidFill>
          <a:ln w="25400" cap="flat" cmpd="sng">
            <a:noFill/>
            <a:prstDash val="solid"/>
            <a:round/>
          </a:ln>
        </p:spPr>
        <p:txBody>
          <a:bodyPr vert="horz" wrap="square" lIns="63500" tIns="63500" rIns="63500" bIns="63500" rtlCol="0" anchor="ctr"/>
          <a:lstStyle/>
          <a:p>
            <a:pPr algn="ctr">
              <a:defRPr/>
            </a:pPr>
          </a:p>
        </p:txBody>
      </p:sp>
      <p:pic>
        <p:nvPicPr>
          <p:cNvPr id="29" name="Picture 29"/>
          <p:cNvPicPr>
            <a:picLocks noChangeAspect="1"/>
          </p:cNvPicPr>
          <p:nvPr/>
        </p:nvPicPr>
        <p:blipFill>
          <a:blip r:embed="rId14">
            <a:extLst>
              <a:ext uri="{28A0092B-C50C-407E-A947-70E740481C1C}">
                <a14:useLocalDpi xmlns:a14="http://schemas.microsoft.com/office/drawing/2010/main" val="0"/>
              </a:ext>
              <a:ext uri="{96DAC541-7B7A-43D3-8B79-37D633B846F1}">
                <asvg:svgBlip xmlns:asvg="http://schemas.microsoft.com/office/drawing/2016/SVG/main" r:embed="rId15"/>
              </a:ext>
            </a:extLst>
          </a:blip>
          <a:stretch>
            <a:fillRect/>
          </a:stretch>
        </p:blipFill>
        <p:spPr>
          <a:xfrm>
            <a:off x="9017000" y="4889500"/>
            <a:ext cx="304800" cy="304800"/>
          </a:xfrm>
          <a:prstGeom prst="rect">
            <a:avLst/>
          </a:prstGeom>
        </p:spPr>
      </p:pic>
      <p:sp>
        <p:nvSpPr>
          <p:cNvPr id="30" name="AutoShape 30"/>
          <p:cNvSpPr/>
          <p:nvPr/>
        </p:nvSpPr>
        <p:spPr>
          <a:xfrm>
            <a:off x="9398000" y="4851400"/>
            <a:ext cx="1651000" cy="38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科学发现与研究</a:t>
            </a:r>
            <a:endParaRPr lang="en-US" sz="1100"/>
          </a:p>
        </p:txBody>
      </p:sp>
      <p:sp>
        <p:nvSpPr>
          <p:cNvPr id="31" name="AutoShape 31"/>
          <p:cNvSpPr/>
          <p:nvPr/>
        </p:nvSpPr>
        <p:spPr>
          <a:xfrm>
            <a:off x="9017000" y="5461000"/>
            <a:ext cx="2032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AlphaFold 2 (蛋白质折叠), 天气预报</a:t>
            </a:r>
            <a:endParaRPr lang="en-US" sz="11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111827">
              <a:alpha val="75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635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03. 局限性与未来方向</a:t>
            </a:r>
            <a:endParaRPr lang="en-US" sz="1100"/>
          </a:p>
        </p:txBody>
      </p:sp>
      <p:sp>
        <p:nvSpPr>
          <p:cNvPr id="4" name="AutoShape 4"/>
          <p:cNvSpPr/>
          <p:nvPr/>
        </p:nvSpPr>
        <p:spPr>
          <a:xfrm>
            <a:off x="762000" y="1778000"/>
            <a:ext cx="5207000" cy="4318000"/>
          </a:xfrm>
          <a:prstGeom prst="roundRect">
            <a:avLst>
              <a:gd name="adj" fmla="val 3529"/>
            </a:avLst>
          </a:prstGeom>
          <a:solidFill>
            <a:srgbClr val="1E293B">
              <a:alpha val="92000"/>
            </a:srgbClr>
          </a:solidFill>
          <a:ln w="25400" cap="flat" cmpd="sng">
            <a:solidFill>
              <a:srgbClr val="A855F7">
                <a:alpha val="6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095500"/>
            <a:ext cx="355600" cy="355600"/>
          </a:xfrm>
          <a:prstGeom prst="rect">
            <a:avLst/>
          </a:prstGeom>
        </p:spPr>
      </p:pic>
      <p:sp>
        <p:nvSpPr>
          <p:cNvPr id="6" name="AutoShape 6"/>
          <p:cNvSpPr/>
          <p:nvPr/>
        </p:nvSpPr>
        <p:spPr>
          <a:xfrm>
            <a:off x="1524000" y="2032000"/>
            <a:ext cx="3810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当前局限性</a:t>
            </a:r>
            <a:endParaRPr lang="en-US" sz="1100"/>
          </a:p>
        </p:txBody>
      </p:sp>
      <p:sp>
        <p:nvSpPr>
          <p:cNvPr id="7" name="AutoShape 7"/>
          <p:cNvSpPr/>
          <p:nvPr/>
        </p:nvSpPr>
        <p:spPr>
          <a:xfrm>
            <a:off x="1016000" y="2921000"/>
            <a:ext cx="4699000" cy="1016000"/>
          </a:xfrm>
          <a:prstGeom prst="roundRect">
            <a:avLst>
              <a:gd name="adj" fmla="val 10000"/>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8" name="AutoShape 8"/>
          <p:cNvSpPr/>
          <p:nvPr/>
        </p:nvSpPr>
        <p:spPr>
          <a:xfrm>
            <a:off x="1206500" y="3048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CA5A5"/>
                </a:solidFill>
                <a:latin typeface="Noto Sans SC" panose="020B0200000000000000" charset="-122"/>
                <a:ea typeface="Noto Sans SC" panose="020B0200000000000000" charset="-122"/>
                <a:cs typeface="Noto Sans SC" panose="020B0200000000000000" charset="-122"/>
                <a:sym typeface="Noto Sans SC" panose="020B0200000000000000" charset="-122"/>
              </a:rPr>
              <a:t>$O(n^2)$ 的复杂度瓶颈</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随着输入序列长度增加，计算成本呈指数级上升，严重限制了对超长文本或多模态序列的处理能力。</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9" name="AutoShape 9"/>
          <p:cNvSpPr/>
          <p:nvPr/>
        </p:nvSpPr>
        <p:spPr>
          <a:xfrm>
            <a:off x="1016000" y="4064000"/>
            <a:ext cx="4699000" cy="1016000"/>
          </a:xfrm>
          <a:prstGeom prst="roundRect">
            <a:avLst>
              <a:gd name="adj" fmla="val 10000"/>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10" name="AutoShape 10"/>
          <p:cNvSpPr/>
          <p:nvPr/>
        </p:nvSpPr>
        <p:spPr>
          <a:xfrm>
            <a:off x="1206500" y="4191000"/>
            <a:ext cx="431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CA5A5"/>
                </a:solidFill>
                <a:latin typeface="Noto Sans SC" panose="020B0200000000000000" charset="-122"/>
                <a:ea typeface="Noto Sans SC" panose="020B0200000000000000" charset="-122"/>
                <a:cs typeface="Noto Sans SC" panose="020B0200000000000000" charset="-122"/>
                <a:sym typeface="Noto Sans SC" panose="020B0200000000000000" charset="-122"/>
              </a:rPr>
              <a:t>推理时的串行解码</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标准自回归模型的“生成一个词后才能生成下一个”的机制，导致生成速度较慢，难以满足高并发的实时应用需求。</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1" name="AutoShape 11"/>
          <p:cNvSpPr/>
          <p:nvPr/>
        </p:nvSpPr>
        <p:spPr>
          <a:xfrm>
            <a:off x="1016000" y="5207000"/>
            <a:ext cx="4699000" cy="762000"/>
          </a:xfrm>
          <a:prstGeom prst="roundRect">
            <a:avLst>
              <a:gd name="adj" fmla="val 13333"/>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12" name="AutoShape 12"/>
          <p:cNvSpPr/>
          <p:nvPr/>
        </p:nvSpPr>
        <p:spPr>
          <a:xfrm>
            <a:off x="1206500" y="5308600"/>
            <a:ext cx="4318000" cy="5588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600" b="1" i="0" u="none" strike="noStrike">
                <a:solidFill>
                  <a:srgbClr val="FCA5A5"/>
                </a:solidFill>
                <a:latin typeface="Noto Sans SC" panose="020B0200000000000000" charset="-122"/>
                <a:ea typeface="Noto Sans SC" panose="020B0200000000000000" charset="-122"/>
                <a:cs typeface="Noto Sans SC" panose="020B0200000000000000" charset="-122"/>
                <a:sym typeface="Noto Sans SC" panose="020B0200000000000000" charset="-122"/>
              </a:rPr>
              <a:t>缺乏显式结构化推理能力</a:t>
            </a:r>
            <a:endParaRPr lang="en-US" sz="1100"/>
          </a:p>
          <a:p>
            <a:pPr indent="0" algn="l">
              <a:lnSpc>
                <a:spcPct val="125000"/>
              </a:lnSpc>
            </a:pPr>
            <a:r>
              <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在数学逻辑、因果推断等需要严格推理的任务上表现仍有不足。</a:t>
            </a:r>
            <a:endParaRPr lang="en-US" sz="13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3" name="AutoShape 13"/>
          <p:cNvSpPr/>
          <p:nvPr/>
        </p:nvSpPr>
        <p:spPr>
          <a:xfrm>
            <a:off x="6223000" y="1778000"/>
            <a:ext cx="5207000" cy="4318000"/>
          </a:xfrm>
          <a:prstGeom prst="roundRect">
            <a:avLst>
              <a:gd name="adj" fmla="val 3529"/>
            </a:avLst>
          </a:prstGeom>
          <a:solidFill>
            <a:srgbClr val="1E293B">
              <a:alpha val="92000"/>
            </a:srgbClr>
          </a:solidFill>
          <a:ln w="25400" cap="flat" cmpd="sng">
            <a:solidFill>
              <a:srgbClr val="A855F7">
                <a:alpha val="60000"/>
              </a:srgbClr>
            </a:solidFill>
            <a:prstDash val="solid"/>
            <a:round/>
          </a:ln>
        </p:spPr>
        <p:txBody>
          <a:bodyPr vert="horz" wrap="square" lIns="63500" tIns="63500" rIns="63500" bIns="63500" rtlCol="0" anchor="ctr"/>
          <a:lstStyle/>
          <a:p>
            <a:pPr algn="ctr">
              <a:defRPr/>
            </a:pPr>
          </a:p>
        </p:txBody>
      </p:sp>
      <p:pic>
        <p:nvPicPr>
          <p:cNvPr id="14" name="Picture 14"/>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6477000" y="2095500"/>
            <a:ext cx="355600" cy="355600"/>
          </a:xfrm>
          <a:prstGeom prst="rect">
            <a:avLst/>
          </a:prstGeom>
        </p:spPr>
      </p:pic>
      <p:sp>
        <p:nvSpPr>
          <p:cNvPr id="15" name="AutoShape 15"/>
          <p:cNvSpPr/>
          <p:nvPr/>
        </p:nvSpPr>
        <p:spPr>
          <a:xfrm>
            <a:off x="6985000" y="2032000"/>
            <a:ext cx="4064000" cy="508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未来研究方向</a:t>
            </a:r>
            <a:endParaRPr lang="en-US" sz="1100"/>
          </a:p>
        </p:txBody>
      </p:sp>
      <p:sp>
        <p:nvSpPr>
          <p:cNvPr id="16" name="AutoShape 16"/>
          <p:cNvSpPr/>
          <p:nvPr/>
        </p:nvSpPr>
        <p:spPr>
          <a:xfrm>
            <a:off x="6477000" y="2921000"/>
            <a:ext cx="2349500" cy="1714500"/>
          </a:xfrm>
          <a:prstGeom prst="roundRect">
            <a:avLst>
              <a:gd name="adj" fmla="val 5925"/>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17" name="AutoShape 17"/>
          <p:cNvSpPr/>
          <p:nvPr/>
        </p:nvSpPr>
        <p:spPr>
          <a:xfrm>
            <a:off x="6604000" y="3048000"/>
            <a:ext cx="20955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高效注意力机制</a:t>
            </a:r>
            <a:endParaRPr lang="en-US" sz="1100"/>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引入局部注意力、稀疏注意力或FlashAttention等技术，从算法底层降低计算复杂度。</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8" name="AutoShape 18"/>
          <p:cNvSpPr/>
          <p:nvPr/>
        </p:nvSpPr>
        <p:spPr>
          <a:xfrm>
            <a:off x="8953500" y="2921000"/>
            <a:ext cx="2349500" cy="1714500"/>
          </a:xfrm>
          <a:prstGeom prst="roundRect">
            <a:avLst>
              <a:gd name="adj" fmla="val 5925"/>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19" name="AutoShape 19"/>
          <p:cNvSpPr/>
          <p:nvPr/>
        </p:nvSpPr>
        <p:spPr>
          <a:xfrm>
            <a:off x="9080500" y="3048000"/>
            <a:ext cx="2095500" cy="14605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非自回归生成 (NAR)</a:t>
            </a:r>
            <a:endParaRPr lang="en-US" sz="1100"/>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探索并行解码，一次性生成整个序列，以大幅提升文本生成的速度和效率。</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0" name="AutoShape 20"/>
          <p:cNvSpPr/>
          <p:nvPr/>
        </p:nvSpPr>
        <p:spPr>
          <a:xfrm>
            <a:off x="6477000" y="4826000"/>
            <a:ext cx="2349500" cy="1143000"/>
          </a:xfrm>
          <a:prstGeom prst="roundRect">
            <a:avLst>
              <a:gd name="adj" fmla="val 8888"/>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21" name="AutoShape 21"/>
          <p:cNvSpPr/>
          <p:nvPr/>
        </p:nvSpPr>
        <p:spPr>
          <a:xfrm>
            <a:off x="6604000" y="4953000"/>
            <a:ext cx="2095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增强逻辑推理能力</a:t>
            </a:r>
            <a:endParaRPr lang="en-US" sz="1100"/>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结合思维链(CoT)、工具调用等，提升解决复杂逻辑问题的能力。</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22" name="AutoShape 22"/>
          <p:cNvSpPr/>
          <p:nvPr/>
        </p:nvSpPr>
        <p:spPr>
          <a:xfrm>
            <a:off x="8953500" y="4826000"/>
            <a:ext cx="2349500" cy="1143000"/>
          </a:xfrm>
          <a:prstGeom prst="roundRect">
            <a:avLst>
              <a:gd name="adj" fmla="val 8888"/>
            </a:avLst>
          </a:prstGeom>
          <a:solidFill>
            <a:srgbClr val="334155">
              <a:alpha val="70000"/>
            </a:srgbClr>
          </a:solidFill>
          <a:ln w="25400" cap="flat" cmpd="sng">
            <a:noFill/>
            <a:prstDash val="solid"/>
            <a:round/>
          </a:ln>
        </p:spPr>
        <p:txBody>
          <a:bodyPr vert="horz" wrap="square" lIns="63500" tIns="63500" rIns="63500" bIns="63500" rtlCol="0" anchor="ctr"/>
          <a:lstStyle/>
          <a:p>
            <a:pPr algn="ctr">
              <a:defRPr/>
            </a:pPr>
          </a:p>
        </p:txBody>
      </p:sp>
      <p:sp>
        <p:nvSpPr>
          <p:cNvPr id="23" name="AutoShape 23"/>
          <p:cNvSpPr/>
          <p:nvPr/>
        </p:nvSpPr>
        <p:spPr>
          <a:xfrm>
            <a:off x="9080500" y="4953000"/>
            <a:ext cx="2095500" cy="889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500" b="1" i="0"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更优的位置编码</a:t>
            </a:r>
            <a:endParaRPr lang="en-US" sz="1100"/>
          </a:p>
          <a:p>
            <a:pPr indent="0" algn="l">
              <a:lnSpc>
                <a:spcPct val="125000"/>
              </a:lnSpc>
            </a:pPr>
            <a:r>
              <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rPr>
              <a:t>如旋转位置编码(RoPE)等，优化长文本的位置感知能力。</a:t>
            </a:r>
            <a:endParaRPr lang="en-US" sz="1200" b="0" i="0" u="none" strike="noStrike">
              <a:solidFill>
                <a:srgbClr val="D1D5D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8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762000" y="635000"/>
            <a:ext cx="10668000" cy="762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32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04. 总结：Attention Is All You Need</a:t>
            </a:r>
            <a:endParaRPr lang="en-US" sz="1100"/>
          </a:p>
        </p:txBody>
      </p:sp>
      <p:sp>
        <p:nvSpPr>
          <p:cNvPr id="4" name="AutoShape 4"/>
          <p:cNvSpPr/>
          <p:nvPr/>
        </p:nvSpPr>
        <p:spPr>
          <a:xfrm>
            <a:off x="762000" y="1905000"/>
            <a:ext cx="3302000" cy="2921000"/>
          </a:xfrm>
          <a:prstGeom prst="roundRect">
            <a:avLst>
              <a:gd name="adj" fmla="val 5217"/>
            </a:avLst>
          </a:prstGeom>
          <a:solidFill>
            <a:srgbClr val="1E293B">
              <a:alpha val="85000"/>
            </a:srgbClr>
          </a:solidFill>
          <a:ln w="12700" cap="flat" cmpd="sng">
            <a:solidFill>
              <a:srgbClr val="A855F7">
                <a:alpha val="70000"/>
              </a:srgbClr>
            </a:solidFill>
            <a:prstDash val="solid"/>
            <a:round/>
          </a:ln>
        </p:spPr>
        <p:txBody>
          <a:bodyPr vert="horz" wrap="square" lIns="63500" tIns="63500" rIns="63500" bIns="63500" rtlCol="0" anchor="ctr"/>
          <a:lstStyle/>
          <a:p>
            <a:pPr algn="ctr">
              <a:defRPr/>
            </a:pPr>
          </a:p>
        </p:txBody>
      </p:sp>
      <p:pic>
        <p:nvPicPr>
          <p:cNvPr id="5" name="Picture 5"/>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1016000" y="2159000"/>
            <a:ext cx="355600" cy="355600"/>
          </a:xfrm>
          <a:prstGeom prst="rect">
            <a:avLst/>
          </a:prstGeom>
        </p:spPr>
      </p:pic>
      <p:sp>
        <p:nvSpPr>
          <p:cNvPr id="6" name="AutoShape 6"/>
          <p:cNvSpPr/>
          <p:nvPr/>
        </p:nvSpPr>
        <p:spPr>
          <a:xfrm>
            <a:off x="1524000" y="2133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核心思想回顾</a:t>
            </a:r>
            <a:endParaRPr lang="en-US" sz="1100"/>
          </a:p>
        </p:txBody>
      </p:sp>
      <p:sp>
        <p:nvSpPr>
          <p:cNvPr id="7" name="AutoShape 7"/>
          <p:cNvSpPr/>
          <p:nvPr/>
        </p:nvSpPr>
        <p:spPr>
          <a:xfrm>
            <a:off x="952500" y="2921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将序列建模从“状态转移”的串行范式，彻底切换到了“集合信息聚合”的并行范式。</a:t>
            </a:r>
            <a:endParaRPr lang="en-US" sz="1100"/>
          </a:p>
          <a:p>
            <a:pPr indent="0" algn="l">
              <a:lnSpc>
                <a:spcPct val="125000"/>
              </a:lnSpc>
              <a:spcBef>
                <a:spcPts val="1000"/>
              </a:spcBef>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证明了优秀的AI架构设计逻辑，可以从“模仿人类行为”转向“适应硬件计算特性”。</a:t>
            </a:r>
            <a:endPar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8" name="AutoShape 8"/>
          <p:cNvSpPr/>
          <p:nvPr/>
        </p:nvSpPr>
        <p:spPr>
          <a:xfrm>
            <a:off x="4445000" y="1905000"/>
            <a:ext cx="3302000" cy="2921000"/>
          </a:xfrm>
          <a:prstGeom prst="roundRect">
            <a:avLst>
              <a:gd name="adj" fmla="val 5217"/>
            </a:avLst>
          </a:prstGeom>
          <a:solidFill>
            <a:srgbClr val="1E293B">
              <a:alpha val="85000"/>
            </a:srgbClr>
          </a:solidFill>
          <a:ln w="12700" cap="flat" cmpd="sng">
            <a:solidFill>
              <a:srgbClr val="A855F7">
                <a:alpha val="70000"/>
              </a:srgbClr>
            </a:solidFill>
            <a:prstDash val="solid"/>
            <a:round/>
          </a:ln>
        </p:spPr>
        <p:txBody>
          <a:bodyPr vert="horz" wrap="square" lIns="63500" tIns="63500" rIns="63500" bIns="63500" rtlCol="0" anchor="ctr"/>
          <a:lstStyle/>
          <a:p>
            <a:pPr algn="ctr">
              <a:defRPr/>
            </a:pPr>
          </a:p>
        </p:txBody>
      </p:sp>
      <p:pic>
        <p:nvPicPr>
          <p:cNvPr id="9" name="Picture 9"/>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4699000" y="2159000"/>
            <a:ext cx="355600" cy="355600"/>
          </a:xfrm>
          <a:prstGeom prst="rect">
            <a:avLst/>
          </a:prstGeom>
        </p:spPr>
      </p:pic>
      <p:sp>
        <p:nvSpPr>
          <p:cNvPr id="10" name="AutoShape 10"/>
          <p:cNvSpPr/>
          <p:nvPr/>
        </p:nvSpPr>
        <p:spPr>
          <a:xfrm>
            <a:off x="5207000" y="2133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关键启示</a:t>
            </a:r>
            <a:endParaRPr lang="en-US" sz="1100"/>
          </a:p>
        </p:txBody>
      </p:sp>
      <p:sp>
        <p:nvSpPr>
          <p:cNvPr id="11" name="AutoShape 11"/>
          <p:cNvSpPr/>
          <p:nvPr/>
        </p:nvSpPr>
        <p:spPr>
          <a:xfrm>
            <a:off x="4635500" y="2921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深度学习领域的根本性技术进步，往往源自于对行业内某些长期“基本假设”的重新审视与颠覆。</a:t>
            </a:r>
            <a:endParaRPr lang="en-US" sz="1100"/>
          </a:p>
          <a:p>
            <a:pPr indent="0" algn="l">
              <a:lnSpc>
                <a:spcPct val="125000"/>
              </a:lnSpc>
              <a:spcBef>
                <a:spcPts val="1000"/>
              </a:spcBef>
            </a:pPr>
            <a:r>
              <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rPr>
              <a:t>• 当年看似“大胆的假说”，在实践和时间的检验下，终将成为整个领域“公认的事实”。</a:t>
            </a:r>
            <a:endParaRPr lang="en-US" sz="1300" b="0" i="0" u="none" strike="noStrike">
              <a:solidFill>
                <a:srgbClr val="E2E8F0"/>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2" name="AutoShape 12"/>
          <p:cNvSpPr/>
          <p:nvPr/>
        </p:nvSpPr>
        <p:spPr>
          <a:xfrm>
            <a:off x="8128000" y="1905000"/>
            <a:ext cx="3302000" cy="2921000"/>
          </a:xfrm>
          <a:prstGeom prst="roundRect">
            <a:avLst>
              <a:gd name="adj" fmla="val 5217"/>
            </a:avLst>
          </a:prstGeom>
          <a:solidFill>
            <a:srgbClr val="A855F7">
              <a:alpha val="20000"/>
            </a:srgbClr>
          </a:solidFill>
          <a:ln w="25400" cap="flat" cmpd="sng">
            <a:solidFill>
              <a:srgbClr val="A855F7">
                <a:alpha val="100000"/>
              </a:srgbClr>
            </a:solidFill>
            <a:prstDash val="solid"/>
            <a:round/>
          </a:ln>
        </p:spPr>
        <p:txBody>
          <a:bodyPr vert="horz" wrap="square" lIns="63500" tIns="63500" rIns="63500" bIns="63500" rtlCol="0" anchor="ctr"/>
          <a:lstStyle/>
          <a:p>
            <a:pPr algn="ctr">
              <a:defRPr/>
            </a:pPr>
          </a:p>
        </p:txBody>
      </p:sp>
      <p:pic>
        <p:nvPicPr>
          <p:cNvPr id="13" name="Picture 13"/>
          <p:cNvPicPr>
            <a:picLocks noChangeAspect="1"/>
          </p:cNvPicPr>
          <p:nvPr/>
        </p:nvPicPr>
        <p:blipFill>
          <a:blip r:embed="rId6">
            <a:extLst>
              <a:ext uri="{28A0092B-C50C-407E-A947-70E740481C1C}">
                <a14:useLocalDpi xmlns:a14="http://schemas.microsoft.com/office/drawing/2010/main" val="0"/>
              </a:ext>
              <a:ext uri="{96DAC541-7B7A-43D3-8B79-37D633B846F1}">
                <asvg:svgBlip xmlns:asvg="http://schemas.microsoft.com/office/drawing/2016/SVG/main" r:embed="rId7"/>
              </a:ext>
            </a:extLst>
          </a:blip>
          <a:stretch>
            <a:fillRect/>
          </a:stretch>
        </p:blipFill>
        <p:spPr>
          <a:xfrm>
            <a:off x="8382000" y="2159000"/>
            <a:ext cx="355600" cy="355600"/>
          </a:xfrm>
          <a:prstGeom prst="rect">
            <a:avLst/>
          </a:prstGeom>
        </p:spPr>
      </p:pic>
      <p:sp>
        <p:nvSpPr>
          <p:cNvPr id="14" name="AutoShape 14"/>
          <p:cNvSpPr/>
          <p:nvPr/>
        </p:nvSpPr>
        <p:spPr>
          <a:xfrm>
            <a:off x="8890000" y="2133600"/>
            <a:ext cx="2286000" cy="406400"/>
          </a:xfrm>
          <a:prstGeom prst="rect">
            <a:avLst/>
          </a:prstGeom>
          <a:noFill/>
          <a:ln w="12700" cap="flat" cmpd="sng">
            <a:noFill/>
            <a:prstDash val="solid"/>
            <a:round/>
          </a:ln>
        </p:spPr>
        <p:txBody>
          <a:bodyPr vert="horz" wrap="square" lIns="0" tIns="0" rIns="0" bIns="0" rtlCol="0" anchor="ctr" anchorCtr="0"/>
          <a:lstStyle/>
          <a:p>
            <a:pPr indent="0" algn="l">
              <a:lnSpc>
                <a:spcPct val="125000"/>
              </a:lnSpc>
              <a:defRPr/>
            </a:pPr>
            <a:r>
              <a:rPr lang="en-US" sz="2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里程碑意义</a:t>
            </a:r>
            <a:endParaRPr lang="en-US" sz="1100"/>
          </a:p>
        </p:txBody>
      </p:sp>
      <p:sp>
        <p:nvSpPr>
          <p:cNvPr id="15" name="AutoShape 15"/>
          <p:cNvSpPr/>
          <p:nvPr/>
        </p:nvSpPr>
        <p:spPr>
          <a:xfrm>
            <a:off x="8318500" y="2921000"/>
            <a:ext cx="2921000" cy="1651000"/>
          </a:xfrm>
          <a:prstGeom prst="rect">
            <a:avLst/>
          </a:prstGeom>
          <a:noFill/>
          <a:ln w="12700" cap="flat" cmpd="sng">
            <a:noFill/>
            <a:prstDash val="solid"/>
            <a:round/>
          </a:ln>
        </p:spPr>
        <p:txBody>
          <a:bodyPr vert="horz" wrap="square" lIns="0" tIns="0" rIns="0" bIns="0" rtlCol="0" anchor="ctr" anchorCtr="0"/>
          <a:lstStyle/>
          <a:p>
            <a:pPr indent="0" algn="l">
              <a:lnSpc>
                <a:spcPct val="133000"/>
              </a:lnSpc>
              <a:defRPr/>
            </a:pPr>
            <a:r>
              <a:rPr lang="en-US" sz="14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Transformer 不仅是一个技术模型，更是一种全新的思维框架。</a:t>
            </a:r>
            <a:endParaRPr lang="en-US" sz="1100"/>
          </a:p>
          <a:p>
            <a:pPr indent="0" algn="l">
              <a:lnSpc>
                <a:spcPct val="133000"/>
              </a:lnSpc>
              <a:spcBef>
                <a:spcPts val="800"/>
              </a:spcBef>
            </a:pPr>
            <a:r>
              <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rPr>
              <a:t>它为深度学习算法突破性能瓶颈、并最终开启通往通用人工智能（AGI）的新路径，奠定了坚实基础。</a:t>
            </a:r>
            <a:endParaRPr lang="en-US" sz="1300" b="0" i="0" u="none" strike="noStrike">
              <a:solidFill>
                <a:srgbClr val="E5E7EB"/>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
        <p:nvSpPr>
          <p:cNvPr id="16" name="AutoShape 16"/>
          <p:cNvSpPr/>
          <p:nvPr/>
        </p:nvSpPr>
        <p:spPr>
          <a:xfrm>
            <a:off x="762000" y="5207000"/>
            <a:ext cx="10668000" cy="1143000"/>
          </a:xfrm>
          <a:prstGeom prst="rect">
            <a:avLst/>
          </a:prstGeom>
          <a:noFill/>
          <a:ln w="12700" cap="flat" cmpd="sng">
            <a:noFill/>
            <a:prstDash val="solid"/>
            <a:round/>
          </a:ln>
        </p:spPr>
        <p:txBody>
          <a:bodyPr vert="horz" wrap="square" lIns="0" tIns="0" rIns="0" bIns="0" rtlCol="0" anchor="ctr" anchorCtr="0"/>
          <a:lstStyle/>
          <a:p>
            <a:pPr indent="0" algn="ctr">
              <a:lnSpc>
                <a:spcPct val="117000"/>
              </a:lnSpc>
              <a:defRPr/>
            </a:pPr>
            <a:r>
              <a:rPr lang="en-US" sz="1600" b="0" i="1" u="none" strike="noStrike">
                <a:solidFill>
                  <a:srgbClr val="C4B5FD"/>
                </a:solidFill>
                <a:latin typeface="Noto Sans SC" panose="020B0200000000000000" charset="-122"/>
                <a:ea typeface="Noto Sans SC" panose="020B0200000000000000" charset="-122"/>
                <a:cs typeface="Noto Sans SC" panose="020B0200000000000000" charset="-122"/>
                <a:sym typeface="Noto Sans SC" panose="020B0200000000000000" charset="-122"/>
              </a:rPr>
              <a:t>“The Transformer architecture is now the foundation of most state-of-the-art NLP systems, and is increasingly being used in other areas of AI.”</a:t>
            </a:r>
            <a:endParaRPr lang="en-US" sz="1100"/>
          </a:p>
          <a:p>
            <a:pPr indent="0" algn="ctr">
              <a:lnSpc>
                <a:spcPct val="125000"/>
              </a:lnSpc>
              <a:spcBef>
                <a:spcPts val="1000"/>
              </a:spcBef>
            </a:pPr>
            <a:r>
              <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rPr>
              <a:t>—— Vaswani et al., 2017</a:t>
            </a:r>
            <a:endParaRPr lang="en-US" sz="1200" b="0" i="0" u="none" strike="noStrike">
              <a:solidFill>
                <a:srgbClr val="94A3B8"/>
              </a:solidFill>
              <a:latin typeface="Noto Sans SC" panose="020B0200000000000000" charset="-122"/>
              <a:ea typeface="Noto Sans SC" panose="020B0200000000000000" charset="-122"/>
              <a:cs typeface="Noto Sans SC" panose="020B0200000000000000" charset="-122"/>
              <a:sym typeface="Noto Sans SC" panose="020B0200000000000000" charset="-122"/>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AutoShape 2"/>
          <p:cNvSpPr/>
          <p:nvPr/>
        </p:nvSpPr>
        <p:spPr>
          <a:xfrm>
            <a:off x="0" y="0"/>
            <a:ext cx="12192000" cy="6858000"/>
          </a:xfrm>
          <a:prstGeom prst="roundRect">
            <a:avLst>
              <a:gd name="adj" fmla="val 0"/>
            </a:avLst>
          </a:prstGeom>
          <a:solidFill>
            <a:srgbClr val="0F172A">
              <a:alpha val="70000"/>
            </a:srgbClr>
          </a:solidFill>
          <a:ln w="25400" cap="flat" cmpd="sng">
            <a:noFill/>
            <a:prstDash val="solid"/>
            <a:round/>
          </a:ln>
        </p:spPr>
        <p:txBody>
          <a:bodyPr vert="horz" wrap="square" lIns="63500" tIns="63500" rIns="63500" bIns="63500" rtlCol="0" anchor="ctr"/>
          <a:lstStyle/>
          <a:p>
            <a:pPr algn="ctr">
              <a:defRPr/>
            </a:pPr>
          </a:p>
        </p:txBody>
      </p:sp>
      <p:sp>
        <p:nvSpPr>
          <p:cNvPr id="3" name="AutoShape 3"/>
          <p:cNvSpPr/>
          <p:nvPr/>
        </p:nvSpPr>
        <p:spPr>
          <a:xfrm>
            <a:off x="0" y="1905000"/>
            <a:ext cx="12192000" cy="1778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9600" b="1" i="0" u="none" strike="noStrike">
                <a:solidFill>
                  <a:srgbClr val="A855F7"/>
                </a:solidFill>
                <a:latin typeface="Noto Sans SC" panose="020B0200000000000000" charset="-122"/>
                <a:ea typeface="Noto Sans SC" panose="020B0200000000000000" charset="-122"/>
                <a:cs typeface="Noto Sans SC" panose="020B0200000000000000" charset="-122"/>
                <a:sym typeface="Noto Sans SC" panose="020B0200000000000000" charset="-122"/>
              </a:rPr>
              <a:t>Q &amp; A</a:t>
            </a:r>
            <a:endParaRPr lang="en-US" sz="1100"/>
          </a:p>
        </p:txBody>
      </p:sp>
      <p:sp>
        <p:nvSpPr>
          <p:cNvPr id="4" name="AutoShape 4"/>
          <p:cNvSpPr/>
          <p:nvPr/>
        </p:nvSpPr>
        <p:spPr>
          <a:xfrm>
            <a:off x="0" y="3937000"/>
            <a:ext cx="12192000" cy="1016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4000" b="1" i="0" u="none" strike="noStrike">
                <a:solidFill>
                  <a:srgbClr val="FFFFFF"/>
                </a:solidFill>
                <a:latin typeface="Noto Sans SC" panose="020B0200000000000000" charset="-122"/>
                <a:ea typeface="Noto Sans SC" panose="020B0200000000000000" charset="-122"/>
                <a:cs typeface="Noto Sans SC" panose="020B0200000000000000" charset="-122"/>
                <a:sym typeface="Noto Sans SC" panose="020B0200000000000000" charset="-122"/>
              </a:rPr>
              <a:t>感谢聆听，欢迎提问！</a:t>
            </a:r>
            <a:endParaRPr lang="en-US" sz="1100"/>
          </a:p>
        </p:txBody>
      </p:sp>
      <p:sp>
        <p:nvSpPr>
          <p:cNvPr id="5" name="AutoShape 5"/>
          <p:cNvSpPr/>
          <p:nvPr/>
        </p:nvSpPr>
        <p:spPr>
          <a:xfrm>
            <a:off x="0" y="5334000"/>
            <a:ext cx="12192000" cy="635000"/>
          </a:xfrm>
          <a:prstGeom prst="rect">
            <a:avLst/>
          </a:prstGeom>
          <a:noFill/>
          <a:ln w="12700" cap="flat" cmpd="sng">
            <a:noFill/>
            <a:prstDash val="solid"/>
            <a:round/>
          </a:ln>
        </p:spPr>
        <p:txBody>
          <a:bodyPr vert="horz" wrap="square" lIns="0" tIns="0" rIns="0" bIns="0" rtlCol="0" anchor="ctr" anchorCtr="0"/>
          <a:lstStyle/>
          <a:p>
            <a:pPr indent="0" algn="ctr">
              <a:lnSpc>
                <a:spcPct val="125000"/>
              </a:lnSpc>
              <a:defRPr/>
            </a:pPr>
            <a:r>
              <a:rPr lang="en-US" sz="1800" b="0" i="0" u="none" strike="noStrike" spc="300">
                <a:solidFill>
                  <a:srgbClr val="E5E7EB">
                    <a:alpha val="70196"/>
                  </a:srgbClr>
                </a:solidFill>
                <a:latin typeface="Noto Sans SC" panose="020B0200000000000000" charset="-122"/>
                <a:ea typeface="Noto Sans SC" panose="020B0200000000000000" charset="-122"/>
                <a:cs typeface="Noto Sans SC" panose="020B0200000000000000" charset="-122"/>
                <a:sym typeface="Noto Sans SC" panose="020B0200000000000000" charset="-122"/>
              </a:rPr>
              <a:t>THANKS FOR LISTENING</a:t>
            </a:r>
            <a:endParaRPr lang="en-US" sz="1100"/>
          </a:p>
        </p:txBody>
      </p:sp>
      <p:pic>
        <p:nvPicPr>
          <p:cNvPr id="6" name="Picture 6"/>
          <p:cNvPicPr>
            <a:picLocks noChangeAspect="1"/>
          </p:cNvPicPr>
          <p:nvPr/>
        </p:nvPicPr>
        <p:blipFill>
          <a:blip r:embed="rId2"/>
          <a:stretch>
            <a:fillRect/>
          </a:stretch>
        </p:blipFill>
        <p:spPr>
          <a:xfrm>
            <a:off x="10668000" y="6190112"/>
            <a:ext cx="1524000" cy="667888"/>
          </a:xfrm>
          <a:prstGeom prst="rect">
            <a:avLst/>
          </a:prstGeom>
        </p:spPr>
      </p:pic>
    </p:spTree>
  </p:cSld>
  <p:clrMapOvr>
    <a:masterClrMapping/>
  </p:clrMapOvr>
</p:sld>
</file>

<file path=ppt/theme/theme1.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默认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5059</Words>
  <Application>WPS 演示</Application>
  <PresentationFormat/>
  <Paragraphs>304</Paragraphs>
  <Slides>16</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16</vt:i4>
      </vt:variant>
    </vt:vector>
  </HeadingPairs>
  <TitlesOfParts>
    <vt:vector size="28" baseType="lpstr">
      <vt:lpstr>Arial</vt:lpstr>
      <vt:lpstr>宋体</vt:lpstr>
      <vt:lpstr>Wingdings</vt:lpstr>
      <vt:lpstr>Arial</vt:lpstr>
      <vt:lpstr>Noto Sans SC</vt:lpstr>
      <vt:lpstr>Roboto Mono</vt:lpstr>
      <vt:lpstr>Segoe Print</vt:lpstr>
      <vt:lpstr>微软雅黑</vt:lpstr>
      <vt:lpstr>Arial Unicode MS</vt:lpstr>
      <vt:lpstr>Bodoni MT</vt:lpstr>
      <vt:lpstr>Office 主题​​</vt:lpstr>
      <vt:lpstr>默认主题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杨骞</cp:lastModifiedBy>
  <cp:revision>3</cp:revision>
  <dcterms:created xsi:type="dcterms:W3CDTF">2026-05-18T07:02:00Z</dcterms:created>
  <dcterms:modified xsi:type="dcterms:W3CDTF">2026-05-31T10:48:31Z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7207874517F04DA999920765EFAE462D_13</vt:lpwstr>
  </property>
  <property fmtid="{D5CDD505-2E9C-101B-9397-08002B2CF9AE}" pid="3" name="KSOProductBuildVer">
    <vt:lpwstr>2052-12.1.0.23542</vt:lpwstr>
  </property>
</Properties>
</file>